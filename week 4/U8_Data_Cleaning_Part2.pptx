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67" r:id="rId5"/>
    <p:sldId id="268" r:id="rId6"/>
    <p:sldId id="269" r:id="rId7"/>
    <p:sldId id="270" r:id="rId8"/>
    <p:sldId id="259" r:id="rId9"/>
    <p:sldId id="260" r:id="rId10"/>
    <p:sldId id="261" r:id="rId11"/>
    <p:sldId id="262" r:id="rId12"/>
    <p:sldId id="271" r:id="rId13"/>
    <p:sldId id="272" r:id="rId14"/>
    <p:sldId id="273" r:id="rId15"/>
    <p:sldId id="279" r:id="rId16"/>
    <p:sldId id="280" r:id="rId17"/>
    <p:sldId id="281" r:id="rId18"/>
    <p:sldId id="263" r:id="rId19"/>
    <p:sldId id="264" r:id="rId20"/>
    <p:sldId id="274" r:id="rId21"/>
    <p:sldId id="275" r:id="rId22"/>
    <p:sldId id="276" r:id="rId23"/>
    <p:sldId id="277" r:id="rId24"/>
    <p:sldId id="278" r:id="rId25"/>
    <p:sldId id="265" r:id="rId26"/>
    <p:sldId id="26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004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what-is-ordinal-data/" TargetMode="External"/><Relationship Id="rId2" Type="http://schemas.openxmlformats.org/officeDocument/2006/relationships/hyperlink" Target="https://www.geeksforgeeks.org/nominal-data/"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ml-label-encoding-of-datasets-in-python/" TargetMode="Externa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eeksforgeeks.org/ml-one-hot-encoding/" TargetMode="Externa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eeksforgeeks.org/machine-learning/what-is-feature-engineering/"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machine-learning/binning-in-data-mining/" TargetMode="External"/><Relationship Id="rId2" Type="http://schemas.openxmlformats.org/officeDocument/2006/relationships/hyperlink" Target="https://www.geeksforgeeks.org/machine-learning/ml-one-hot-encoding/" TargetMode="Externa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3.png"/><Relationship Id="rId10" Type="http://schemas.openxmlformats.org/officeDocument/2006/relationships/image" Target="../media/image13.png"/><Relationship Id="rId4" Type="http://schemas.openxmlformats.org/officeDocument/2006/relationships/image" Target="../media/image32.png"/><Relationship Id="rId9"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a:effectLst/>
      </p:bgPr>
    </p:bg>
    <p:spTree>
      <p:nvGrpSpPr>
        <p:cNvPr id="1" name=""/>
        <p:cNvGrpSpPr/>
        <p:nvPr/>
      </p:nvGrpSpPr>
      <p:grpSpPr>
        <a:xfrm>
          <a:off x="0" y="0"/>
          <a:ext cx="0" cy="0"/>
          <a:chOff x="0" y="0"/>
          <a:chExt cx="0" cy="0"/>
        </a:xfrm>
      </p:grpSpPr>
      <p:sp>
        <p:nvSpPr>
          <p:cNvPr id="2" name="Shape 0"/>
          <p:cNvSpPr/>
          <p:nvPr/>
        </p:nvSpPr>
        <p:spPr>
          <a:xfrm rot="1320000">
            <a:off x="8686800" y="-1097280"/>
            <a:ext cx="5486400" cy="5486400"/>
          </a:xfrm>
          <a:prstGeom prst="roundRect">
            <a:avLst>
              <a:gd name="adj" fmla="val 3333"/>
            </a:avLst>
          </a:prstGeom>
          <a:solidFill>
            <a:srgbClr val="2D6A9F">
              <a:alpha val="22000"/>
            </a:srgbClr>
          </a:solidFill>
          <a:ln/>
        </p:spPr>
      </p:sp>
      <p:sp>
        <p:nvSpPr>
          <p:cNvPr id="3" name="Shape 1"/>
          <p:cNvSpPr/>
          <p:nvPr/>
        </p:nvSpPr>
        <p:spPr>
          <a:xfrm rot="1320000">
            <a:off x="9509760" y="2377440"/>
            <a:ext cx="5486400" cy="5486400"/>
          </a:xfrm>
          <a:prstGeom prst="roundRect">
            <a:avLst>
              <a:gd name="adj" fmla="val 3333"/>
            </a:avLst>
          </a:prstGeom>
          <a:solidFill>
            <a:srgbClr val="3AAFA9">
              <a:alpha val="18000"/>
            </a:srgbClr>
          </a:solidFill>
          <a:ln/>
        </p:spPr>
      </p:sp>
      <p:sp>
        <p:nvSpPr>
          <p:cNvPr id="4" name="Shape 2"/>
          <p:cNvSpPr/>
          <p:nvPr/>
        </p:nvSpPr>
        <p:spPr>
          <a:xfrm>
            <a:off x="868680" y="868680"/>
            <a:ext cx="914400" cy="914400"/>
          </a:xfrm>
          <a:prstGeom prst="ellipse">
            <a:avLst/>
          </a:prstGeom>
          <a:solidFill>
            <a:srgbClr val="F4B942"/>
          </a:solidFill>
          <a:ln/>
          <a:effectLst>
            <a:outerShdw blurRad="101600" dist="38100" dir="5400000" algn="bl" rotWithShape="0">
              <a:srgbClr val="000000">
                <a:alpha val="14000"/>
              </a:srgbClr>
            </a:outerShdw>
          </a:effectLst>
        </p:spPr>
      </p:sp>
      <p:pic>
        <p:nvPicPr>
          <p:cNvPr id="5" name="Image 0" descr="ic_sliders_navy.png"/>
          <p:cNvPicPr>
            <a:picLocks noChangeAspect="1"/>
          </p:cNvPicPr>
          <p:nvPr/>
        </p:nvPicPr>
        <p:blipFill>
          <a:blip r:embed="rId3"/>
          <a:stretch>
            <a:fillRect/>
          </a:stretch>
        </p:blipFill>
        <p:spPr>
          <a:xfrm>
            <a:off x="1097280" y="1097280"/>
            <a:ext cx="457200" cy="457200"/>
          </a:xfrm>
          <a:prstGeom prst="rect">
            <a:avLst/>
          </a:prstGeom>
        </p:spPr>
      </p:pic>
      <p:sp>
        <p:nvSpPr>
          <p:cNvPr id="6" name="Text 3"/>
          <p:cNvSpPr/>
          <p:nvPr/>
        </p:nvSpPr>
        <p:spPr>
          <a:xfrm>
            <a:off x="896112" y="2011680"/>
            <a:ext cx="10972800" cy="365760"/>
          </a:xfrm>
          <a:prstGeom prst="rect">
            <a:avLst/>
          </a:prstGeom>
          <a:noFill/>
          <a:ln/>
        </p:spPr>
        <p:txBody>
          <a:bodyPr wrap="square" lIns="0" tIns="0" rIns="0" bIns="0" rtlCol="0" anchor="ctr"/>
          <a:lstStyle/>
          <a:p>
            <a:pPr marL="0" indent="0" algn="l">
              <a:buNone/>
            </a:pPr>
            <a:r>
              <a:rPr lang="en-US" sz="1300" b="1" kern="0" spc="200" dirty="0">
                <a:solidFill>
                  <a:srgbClr val="F4B942"/>
                </a:solidFill>
                <a:latin typeface="Calibri" pitchFamily="34" charset="0"/>
                <a:ea typeface="Calibri" pitchFamily="34" charset="-122"/>
                <a:cs typeface="Calibri" pitchFamily="34" charset="-120"/>
              </a:rPr>
              <a:t>AI / ML TRAINING  ·  DAY 4  ·  PHASE C — DATA ENGINEERING &amp; PREPARATION</a:t>
            </a:r>
            <a:endParaRPr lang="en-US" sz="1300" dirty="0"/>
          </a:p>
        </p:txBody>
      </p:sp>
      <p:sp>
        <p:nvSpPr>
          <p:cNvPr id="7" name="Text 4"/>
          <p:cNvSpPr/>
          <p:nvPr/>
        </p:nvSpPr>
        <p:spPr>
          <a:xfrm>
            <a:off x="822960" y="2432304"/>
            <a:ext cx="10972800" cy="868680"/>
          </a:xfrm>
          <a:prstGeom prst="rect">
            <a:avLst/>
          </a:prstGeom>
          <a:noFill/>
          <a:ln/>
        </p:spPr>
        <p:txBody>
          <a:bodyPr wrap="square" lIns="0" tIns="0" rIns="0" bIns="0" rtlCol="0" anchor="ctr"/>
          <a:lstStyle/>
          <a:p>
            <a:pPr marL="0" indent="0" algn="l">
              <a:buNone/>
            </a:pPr>
            <a:r>
              <a:rPr lang="en-US" sz="4400" b="1" dirty="0">
                <a:solidFill>
                  <a:srgbClr val="FFFFFF"/>
                </a:solidFill>
                <a:latin typeface="Century Schoolbook" pitchFamily="34" charset="0"/>
                <a:ea typeface="Century Schoolbook" pitchFamily="34" charset="-122"/>
                <a:cs typeface="Century Schoolbook" pitchFamily="34" charset="-120"/>
              </a:rPr>
              <a:t>Data Cleaning &amp; Preprocessing</a:t>
            </a:r>
            <a:endParaRPr lang="en-US" sz="4400" dirty="0"/>
          </a:p>
        </p:txBody>
      </p:sp>
      <p:sp>
        <p:nvSpPr>
          <p:cNvPr id="8" name="Text 5"/>
          <p:cNvSpPr/>
          <p:nvPr/>
        </p:nvSpPr>
        <p:spPr>
          <a:xfrm>
            <a:off x="841248" y="3346704"/>
            <a:ext cx="10972800" cy="594360"/>
          </a:xfrm>
          <a:prstGeom prst="rect">
            <a:avLst/>
          </a:prstGeom>
          <a:noFill/>
          <a:ln/>
        </p:spPr>
        <p:txBody>
          <a:bodyPr wrap="square" lIns="0" tIns="0" rIns="0" bIns="0" rtlCol="0" anchor="ctr"/>
          <a:lstStyle/>
          <a:p>
            <a:pPr marL="0" indent="0" algn="l">
              <a:buNone/>
            </a:pPr>
            <a:r>
              <a:rPr lang="en-US" sz="2600" b="1" dirty="0">
                <a:solidFill>
                  <a:srgbClr val="F4B942"/>
                </a:solidFill>
                <a:latin typeface="Century Schoolbook" pitchFamily="34" charset="0"/>
                <a:ea typeface="Century Schoolbook" pitchFamily="34" charset="-122"/>
                <a:cs typeface="Century Schoolbook" pitchFamily="34" charset="-120"/>
              </a:rPr>
              <a:t>Part 2 — </a:t>
            </a:r>
            <a:r>
              <a:rPr lang="en-US" sz="2600" dirty="0">
                <a:solidFill>
                  <a:srgbClr val="DCE7F2"/>
                </a:solidFill>
                <a:latin typeface="Century Schoolbook" pitchFamily="34" charset="0"/>
                <a:ea typeface="Century Schoolbook" pitchFamily="34" charset="-122"/>
                <a:cs typeface="Century Schoolbook" pitchFamily="34" charset="-120"/>
              </a:rPr>
              <a:t>Preparing Data for ML</a:t>
            </a:r>
            <a:endParaRPr lang="en-US" sz="2600" dirty="0"/>
          </a:p>
        </p:txBody>
      </p:sp>
      <p:sp>
        <p:nvSpPr>
          <p:cNvPr id="9" name="Text 6"/>
          <p:cNvSpPr/>
          <p:nvPr/>
        </p:nvSpPr>
        <p:spPr>
          <a:xfrm>
            <a:off x="868680" y="4114800"/>
            <a:ext cx="10972800" cy="365760"/>
          </a:xfrm>
          <a:prstGeom prst="rect">
            <a:avLst/>
          </a:prstGeom>
          <a:noFill/>
          <a:ln/>
        </p:spPr>
        <p:txBody>
          <a:bodyPr wrap="square" lIns="0" tIns="0" rIns="0" bIns="0" rtlCol="0" anchor="ctr"/>
          <a:lstStyle/>
          <a:p>
            <a:pPr marL="0" indent="0" algn="l">
              <a:buNone/>
            </a:pPr>
            <a:r>
              <a:rPr lang="en-US" sz="1500" dirty="0">
                <a:solidFill>
                  <a:srgbClr val="AFC2D6"/>
                </a:solidFill>
                <a:latin typeface="Calibri" pitchFamily="34" charset="0"/>
                <a:ea typeface="Calibri" pitchFamily="34" charset="-122"/>
                <a:cs typeface="Calibri" pitchFamily="34" charset="-120"/>
              </a:rPr>
              <a:t>Encoding categoricals · feature scaling · feature engineering · the preprocessing pipeline</a:t>
            </a:r>
            <a:endParaRPr lang="en-US" sz="1500" dirty="0"/>
          </a:p>
        </p:txBody>
      </p:sp>
      <p:sp>
        <p:nvSpPr>
          <p:cNvPr id="10" name="Text 7"/>
          <p:cNvSpPr/>
          <p:nvPr/>
        </p:nvSpPr>
        <p:spPr>
          <a:xfrm>
            <a:off x="868680" y="6126480"/>
            <a:ext cx="10515600" cy="320040"/>
          </a:xfrm>
          <a:prstGeom prst="rect">
            <a:avLst/>
          </a:prstGeom>
          <a:noFill/>
          <a:ln/>
        </p:spPr>
        <p:txBody>
          <a:bodyPr wrap="square" lIns="0" tIns="0" rIns="0" bIns="0" rtlCol="0" anchor="ctr"/>
          <a:lstStyle/>
          <a:p>
            <a:pPr marL="0" indent="0" algn="l">
              <a:buNone/>
            </a:pPr>
            <a:r>
              <a:rPr lang="en-US" sz="1200" dirty="0">
                <a:solidFill>
                  <a:srgbClr val="7E93AF"/>
                </a:solidFill>
                <a:latin typeface="Calibri" pitchFamily="34" charset="0"/>
                <a:ea typeface="Calibri" pitchFamily="34" charset="-122"/>
                <a:cs typeface="Calibri" pitchFamily="34" charset="-120"/>
              </a:rPr>
              <a:t>Unit U8  ·  Phase C  ·  Day 4  (finishing U8 — cleaning was Part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sliders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ORIENTATION</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From clean data to model-ready data</a:t>
            </a:r>
            <a:endParaRPr lang="en-US" sz="2700" dirty="0"/>
          </a:p>
        </p:txBody>
      </p:sp>
      <p:sp>
        <p:nvSpPr>
          <p:cNvPr id="6" name="Shape 3"/>
          <p:cNvSpPr/>
          <p:nvPr/>
        </p:nvSpPr>
        <p:spPr>
          <a:xfrm>
            <a:off x="548640" y="1572768"/>
            <a:ext cx="11091672" cy="914400"/>
          </a:xfrm>
          <a:prstGeom prst="roundRect">
            <a:avLst>
              <a:gd name="adj" fmla="val 8000"/>
            </a:avLst>
          </a:prstGeom>
          <a:solidFill>
            <a:srgbClr val="16263F"/>
          </a:solidFill>
          <a:ln/>
          <a:effectLst>
            <a:outerShdw blurRad="101600" dist="38100" dir="5400000" algn="bl" rotWithShape="0">
              <a:srgbClr val="000000">
                <a:alpha val="14000"/>
              </a:srgbClr>
            </a:outerShdw>
          </a:effectLst>
        </p:spPr>
      </p:sp>
      <p:sp>
        <p:nvSpPr>
          <p:cNvPr id="7" name="Text 4"/>
          <p:cNvSpPr/>
          <p:nvPr/>
        </p:nvSpPr>
        <p:spPr>
          <a:xfrm>
            <a:off x="822960" y="1572768"/>
            <a:ext cx="10515600" cy="914400"/>
          </a:xfrm>
          <a:prstGeom prst="rect">
            <a:avLst/>
          </a:prstGeom>
          <a:noFill/>
          <a:ln/>
        </p:spPr>
        <p:txBody>
          <a:bodyPr wrap="square" lIns="0" tIns="0" rIns="0" bIns="0" rtlCol="0" anchor="ctr"/>
          <a:lstStyle/>
          <a:p>
            <a:pPr marL="0" indent="0" algn="l">
              <a:lnSpc>
                <a:spcPct val="105000"/>
              </a:lnSpc>
              <a:buNone/>
            </a:pPr>
            <a:r>
              <a:rPr lang="en-US" sz="1400" b="1" dirty="0">
                <a:solidFill>
                  <a:srgbClr val="F4B942"/>
                </a:solidFill>
                <a:latin typeface="Calibri" pitchFamily="34" charset="0"/>
                <a:ea typeface="Calibri" pitchFamily="34" charset="-122"/>
                <a:cs typeface="Calibri" pitchFamily="34" charset="-120"/>
              </a:rPr>
              <a:t>The next step:  </a:t>
            </a:r>
            <a:r>
              <a:rPr lang="en-US" sz="1400" dirty="0">
                <a:solidFill>
                  <a:srgbClr val="DCE7F2"/>
                </a:solidFill>
                <a:latin typeface="Calibri" pitchFamily="34" charset="0"/>
                <a:ea typeface="Calibri" pitchFamily="34" charset="-122"/>
                <a:cs typeface="Calibri" pitchFamily="34" charset="-120"/>
              </a:rPr>
              <a:t>Part 1 made the data correct. But models need </a:t>
            </a:r>
            <a:r>
              <a:rPr lang="en-US" sz="1400" i="1" dirty="0">
                <a:solidFill>
                  <a:srgbClr val="FFFFFF"/>
                </a:solidFill>
                <a:latin typeface="Calibri" pitchFamily="34" charset="0"/>
                <a:ea typeface="Calibri" pitchFamily="34" charset="-122"/>
                <a:cs typeface="Calibri" pitchFamily="34" charset="-120"/>
              </a:rPr>
              <a:t>numbers on comparable scales</a:t>
            </a:r>
            <a:r>
              <a:rPr lang="en-US" sz="1400" dirty="0">
                <a:solidFill>
                  <a:srgbClr val="DCE7F2"/>
                </a:solidFill>
                <a:latin typeface="Calibri" pitchFamily="34" charset="0"/>
                <a:ea typeface="Calibri" pitchFamily="34" charset="-122"/>
                <a:cs typeface="Calibri" pitchFamily="34" charset="-120"/>
              </a:rPr>
              <a:t> — so now we encode categories, scale features, and engineer new ones.</a:t>
            </a:r>
            <a:endParaRPr lang="en-US" sz="1400" dirty="0"/>
          </a:p>
        </p:txBody>
      </p:sp>
      <p:sp>
        <p:nvSpPr>
          <p:cNvPr id="8" name="Shape 5"/>
          <p:cNvSpPr/>
          <p:nvPr/>
        </p:nvSpPr>
        <p:spPr>
          <a:xfrm>
            <a:off x="548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9" name="Shape 6"/>
          <p:cNvSpPr/>
          <p:nvPr/>
        </p:nvSpPr>
        <p:spPr>
          <a:xfrm>
            <a:off x="1225296" y="3035808"/>
            <a:ext cx="768096" cy="768096"/>
          </a:xfrm>
          <a:prstGeom prst="ellipse">
            <a:avLst/>
          </a:prstGeom>
          <a:solidFill>
            <a:srgbClr val="16263F"/>
          </a:solidFill>
          <a:ln/>
        </p:spPr>
      </p:sp>
      <p:pic>
        <p:nvPicPr>
          <p:cNvPr id="10" name="Image 1" descr="ic_hash_white.png"/>
          <p:cNvPicPr>
            <a:picLocks noChangeAspect="1"/>
          </p:cNvPicPr>
          <p:nvPr/>
        </p:nvPicPr>
        <p:blipFill>
          <a:blip r:embed="rId4"/>
          <a:stretch>
            <a:fillRect/>
          </a:stretch>
        </p:blipFill>
        <p:spPr>
          <a:xfrm>
            <a:off x="1408176" y="3236976"/>
            <a:ext cx="402336" cy="402336"/>
          </a:xfrm>
          <a:prstGeom prst="rect">
            <a:avLst/>
          </a:prstGeom>
        </p:spPr>
      </p:pic>
      <p:sp>
        <p:nvSpPr>
          <p:cNvPr id="11" name="Text 7"/>
          <p:cNvSpPr/>
          <p:nvPr/>
        </p:nvSpPr>
        <p:spPr>
          <a:xfrm>
            <a:off x="694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640080" y="3968496"/>
            <a:ext cx="1938528" cy="457200"/>
          </a:xfrm>
          <a:prstGeom prst="rect">
            <a:avLst/>
          </a:prstGeom>
          <a:noFill/>
          <a:ln/>
        </p:spPr>
        <p:txBody>
          <a:bodyPr wrap="square" lIns="0" tIns="0" rIns="0" bIns="0" rtlCol="0" anchor="t"/>
          <a:lstStyle/>
          <a:p>
            <a:pPr marL="0" indent="0" algn="ctr">
              <a:lnSpc>
                <a:spcPct val="95000"/>
              </a:lnSpc>
              <a:buNone/>
            </a:pPr>
            <a:r>
              <a:rPr lang="en-US" sz="1300" b="1" dirty="0">
                <a:solidFill>
                  <a:srgbClr val="16263F"/>
                </a:solidFill>
                <a:latin typeface="Calibri" pitchFamily="34" charset="0"/>
                <a:ea typeface="Calibri" pitchFamily="34" charset="-122"/>
                <a:cs typeface="Calibri" pitchFamily="34" charset="-120"/>
              </a:rPr>
              <a:t>Why preprocess</a:t>
            </a:r>
            <a:endParaRPr lang="en-US" sz="1300" dirty="0"/>
          </a:p>
        </p:txBody>
      </p:sp>
      <p:sp>
        <p:nvSpPr>
          <p:cNvPr id="13" name="Text 9"/>
          <p:cNvSpPr/>
          <p:nvPr/>
        </p:nvSpPr>
        <p:spPr>
          <a:xfrm>
            <a:off x="658368" y="4498848"/>
            <a:ext cx="1901952" cy="457200"/>
          </a:xfrm>
          <a:prstGeom prst="rect">
            <a:avLst/>
          </a:prstGeom>
          <a:noFill/>
          <a:ln/>
        </p:spPr>
        <p:txBody>
          <a:bodyPr wrap="square" lIns="0" tIns="0" rIns="0" bIns="0" rtlCol="0" anchor="t"/>
          <a:lstStyle/>
          <a:p>
            <a:pPr marL="0" indent="0" algn="ctr">
              <a:buNone/>
            </a:pPr>
            <a:r>
              <a:rPr lang="en-US" sz="1030" dirty="0">
                <a:solidFill>
                  <a:srgbClr val="5C6B7A"/>
                </a:solidFill>
                <a:latin typeface="Calibri" pitchFamily="34" charset="0"/>
                <a:ea typeface="Calibri" pitchFamily="34" charset="-122"/>
                <a:cs typeface="Calibri" pitchFamily="34" charset="-120"/>
              </a:rPr>
              <a:t>models only eat numbers</a:t>
            </a:r>
            <a:endParaRPr lang="en-US" sz="1030" dirty="0"/>
          </a:p>
        </p:txBody>
      </p:sp>
      <p:sp>
        <p:nvSpPr>
          <p:cNvPr id="14" name="Shape 10"/>
          <p:cNvSpPr/>
          <p:nvPr/>
        </p:nvSpPr>
        <p:spPr>
          <a:xfrm>
            <a:off x="2834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15" name="Shape 11"/>
          <p:cNvSpPr/>
          <p:nvPr/>
        </p:nvSpPr>
        <p:spPr>
          <a:xfrm>
            <a:off x="3511296" y="3035808"/>
            <a:ext cx="768096" cy="768096"/>
          </a:xfrm>
          <a:prstGeom prst="ellipse">
            <a:avLst/>
          </a:prstGeom>
          <a:solidFill>
            <a:srgbClr val="16263F"/>
          </a:solidFill>
          <a:ln/>
        </p:spPr>
      </p:sp>
      <p:pic>
        <p:nvPicPr>
          <p:cNvPr id="16" name="Image 2" descr="ic_tags_white.png"/>
          <p:cNvPicPr>
            <a:picLocks noChangeAspect="1"/>
          </p:cNvPicPr>
          <p:nvPr/>
        </p:nvPicPr>
        <p:blipFill>
          <a:blip r:embed="rId5"/>
          <a:stretch>
            <a:fillRect/>
          </a:stretch>
        </p:blipFill>
        <p:spPr>
          <a:xfrm>
            <a:off x="3694176" y="3236976"/>
            <a:ext cx="402336" cy="402336"/>
          </a:xfrm>
          <a:prstGeom prst="rect">
            <a:avLst/>
          </a:prstGeom>
        </p:spPr>
      </p:pic>
      <p:sp>
        <p:nvSpPr>
          <p:cNvPr id="17" name="Text 12"/>
          <p:cNvSpPr/>
          <p:nvPr/>
        </p:nvSpPr>
        <p:spPr>
          <a:xfrm>
            <a:off x="2980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2</a:t>
            </a:r>
            <a:endParaRPr lang="en-US" sz="1300" dirty="0"/>
          </a:p>
        </p:txBody>
      </p:sp>
      <p:sp>
        <p:nvSpPr>
          <p:cNvPr id="18" name="Text 13"/>
          <p:cNvSpPr/>
          <p:nvPr/>
        </p:nvSpPr>
        <p:spPr>
          <a:xfrm>
            <a:off x="2926080" y="3968496"/>
            <a:ext cx="1938528" cy="457200"/>
          </a:xfrm>
          <a:prstGeom prst="rect">
            <a:avLst/>
          </a:prstGeom>
          <a:noFill/>
          <a:ln/>
        </p:spPr>
        <p:txBody>
          <a:bodyPr wrap="square" lIns="0" tIns="0" rIns="0" bIns="0" rtlCol="0" anchor="t"/>
          <a:lstStyle/>
          <a:p>
            <a:pPr marL="0" indent="0" algn="ctr">
              <a:lnSpc>
                <a:spcPct val="95000"/>
              </a:lnSpc>
              <a:buNone/>
            </a:pPr>
            <a:r>
              <a:rPr lang="en-US" sz="1300" b="1" dirty="0">
                <a:solidFill>
                  <a:srgbClr val="16263F"/>
                </a:solidFill>
                <a:latin typeface="Calibri" pitchFamily="34" charset="0"/>
                <a:ea typeface="Calibri" pitchFamily="34" charset="-122"/>
                <a:cs typeface="Calibri" pitchFamily="34" charset="-120"/>
              </a:rPr>
              <a:t>Encoding</a:t>
            </a:r>
            <a:endParaRPr lang="en-US" sz="1300" dirty="0"/>
          </a:p>
        </p:txBody>
      </p:sp>
      <p:sp>
        <p:nvSpPr>
          <p:cNvPr id="19" name="Text 14"/>
          <p:cNvSpPr/>
          <p:nvPr/>
        </p:nvSpPr>
        <p:spPr>
          <a:xfrm>
            <a:off x="2944368" y="4498848"/>
            <a:ext cx="1901952" cy="457200"/>
          </a:xfrm>
          <a:prstGeom prst="rect">
            <a:avLst/>
          </a:prstGeom>
          <a:noFill/>
          <a:ln/>
        </p:spPr>
        <p:txBody>
          <a:bodyPr wrap="square" lIns="0" tIns="0" rIns="0" bIns="0" rtlCol="0" anchor="t"/>
          <a:lstStyle/>
          <a:p>
            <a:pPr marL="0" indent="0" algn="ctr">
              <a:buNone/>
            </a:pPr>
            <a:r>
              <a:rPr lang="en-US" sz="1030" dirty="0">
                <a:solidFill>
                  <a:srgbClr val="5C6B7A"/>
                </a:solidFill>
                <a:latin typeface="Calibri" pitchFamily="34" charset="0"/>
                <a:ea typeface="Calibri" pitchFamily="34" charset="-122"/>
                <a:cs typeface="Calibri" pitchFamily="34" charset="-120"/>
              </a:rPr>
              <a:t>label &amp; one-hot</a:t>
            </a:r>
            <a:endParaRPr lang="en-US" sz="1030" dirty="0"/>
          </a:p>
        </p:txBody>
      </p:sp>
      <p:sp>
        <p:nvSpPr>
          <p:cNvPr id="20" name="Shape 15"/>
          <p:cNvSpPr/>
          <p:nvPr/>
        </p:nvSpPr>
        <p:spPr>
          <a:xfrm>
            <a:off x="5120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21" name="Shape 16"/>
          <p:cNvSpPr/>
          <p:nvPr/>
        </p:nvSpPr>
        <p:spPr>
          <a:xfrm>
            <a:off x="5797296" y="3035808"/>
            <a:ext cx="768096" cy="768096"/>
          </a:xfrm>
          <a:prstGeom prst="ellipse">
            <a:avLst/>
          </a:prstGeom>
          <a:solidFill>
            <a:srgbClr val="16263F"/>
          </a:solidFill>
          <a:ln/>
        </p:spPr>
      </p:sp>
      <p:pic>
        <p:nvPicPr>
          <p:cNvPr id="22" name="Image 3" descr="ic_scale_white.png"/>
          <p:cNvPicPr>
            <a:picLocks noChangeAspect="1"/>
          </p:cNvPicPr>
          <p:nvPr/>
        </p:nvPicPr>
        <p:blipFill>
          <a:blip r:embed="rId6"/>
          <a:stretch>
            <a:fillRect/>
          </a:stretch>
        </p:blipFill>
        <p:spPr>
          <a:xfrm>
            <a:off x="5980176" y="3236976"/>
            <a:ext cx="402336" cy="402336"/>
          </a:xfrm>
          <a:prstGeom prst="rect">
            <a:avLst/>
          </a:prstGeom>
        </p:spPr>
      </p:pic>
      <p:sp>
        <p:nvSpPr>
          <p:cNvPr id="23" name="Text 17"/>
          <p:cNvSpPr/>
          <p:nvPr/>
        </p:nvSpPr>
        <p:spPr>
          <a:xfrm>
            <a:off x="5266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3</a:t>
            </a:r>
            <a:endParaRPr lang="en-US" sz="1300" dirty="0"/>
          </a:p>
        </p:txBody>
      </p:sp>
      <p:sp>
        <p:nvSpPr>
          <p:cNvPr id="24" name="Text 18"/>
          <p:cNvSpPr/>
          <p:nvPr/>
        </p:nvSpPr>
        <p:spPr>
          <a:xfrm>
            <a:off x="5212080" y="3968496"/>
            <a:ext cx="1938528" cy="457200"/>
          </a:xfrm>
          <a:prstGeom prst="rect">
            <a:avLst/>
          </a:prstGeom>
          <a:noFill/>
          <a:ln/>
        </p:spPr>
        <p:txBody>
          <a:bodyPr wrap="square" lIns="0" tIns="0" rIns="0" bIns="0" rtlCol="0" anchor="t"/>
          <a:lstStyle/>
          <a:p>
            <a:pPr marL="0" indent="0" algn="ctr">
              <a:lnSpc>
                <a:spcPct val="95000"/>
              </a:lnSpc>
              <a:buNone/>
            </a:pPr>
            <a:r>
              <a:rPr lang="en-US" sz="1300" b="1" dirty="0">
                <a:solidFill>
                  <a:srgbClr val="16263F"/>
                </a:solidFill>
                <a:latin typeface="Calibri" pitchFamily="34" charset="0"/>
                <a:ea typeface="Calibri" pitchFamily="34" charset="-122"/>
                <a:cs typeface="Calibri" pitchFamily="34" charset="-120"/>
              </a:rPr>
              <a:t>Scaling</a:t>
            </a:r>
            <a:endParaRPr lang="en-US" sz="1300" dirty="0"/>
          </a:p>
        </p:txBody>
      </p:sp>
      <p:sp>
        <p:nvSpPr>
          <p:cNvPr id="25" name="Text 19"/>
          <p:cNvSpPr/>
          <p:nvPr/>
        </p:nvSpPr>
        <p:spPr>
          <a:xfrm>
            <a:off x="5230368" y="4498848"/>
            <a:ext cx="1901952" cy="457200"/>
          </a:xfrm>
          <a:prstGeom prst="rect">
            <a:avLst/>
          </a:prstGeom>
          <a:noFill/>
          <a:ln/>
        </p:spPr>
        <p:txBody>
          <a:bodyPr wrap="square" lIns="0" tIns="0" rIns="0" bIns="0" rtlCol="0" anchor="t"/>
          <a:lstStyle/>
          <a:p>
            <a:pPr marL="0" indent="0" algn="ctr">
              <a:buNone/>
            </a:pPr>
            <a:r>
              <a:rPr lang="en-US" sz="1030" dirty="0">
                <a:solidFill>
                  <a:srgbClr val="5C6B7A"/>
                </a:solidFill>
                <a:latin typeface="Calibri" pitchFamily="34" charset="0"/>
                <a:ea typeface="Calibri" pitchFamily="34" charset="-122"/>
                <a:cs typeface="Calibri" pitchFamily="34" charset="-120"/>
              </a:rPr>
              <a:t>normalise &amp; standardise</a:t>
            </a:r>
            <a:endParaRPr lang="en-US" sz="1030" dirty="0"/>
          </a:p>
        </p:txBody>
      </p:sp>
      <p:sp>
        <p:nvSpPr>
          <p:cNvPr id="26" name="Shape 20"/>
          <p:cNvSpPr/>
          <p:nvPr/>
        </p:nvSpPr>
        <p:spPr>
          <a:xfrm>
            <a:off x="7406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27" name="Shape 21"/>
          <p:cNvSpPr/>
          <p:nvPr/>
        </p:nvSpPr>
        <p:spPr>
          <a:xfrm>
            <a:off x="8083296" y="3035808"/>
            <a:ext cx="768096" cy="768096"/>
          </a:xfrm>
          <a:prstGeom prst="ellipse">
            <a:avLst/>
          </a:prstGeom>
          <a:solidFill>
            <a:srgbClr val="16263F"/>
          </a:solidFill>
          <a:ln/>
        </p:spPr>
      </p:sp>
      <p:pic>
        <p:nvPicPr>
          <p:cNvPr id="28" name="Image 4" descr="ic_magic_white.png"/>
          <p:cNvPicPr>
            <a:picLocks noChangeAspect="1"/>
          </p:cNvPicPr>
          <p:nvPr/>
        </p:nvPicPr>
        <p:blipFill>
          <a:blip r:embed="rId7"/>
          <a:stretch>
            <a:fillRect/>
          </a:stretch>
        </p:blipFill>
        <p:spPr>
          <a:xfrm>
            <a:off x="8266176" y="3236976"/>
            <a:ext cx="402336" cy="402336"/>
          </a:xfrm>
          <a:prstGeom prst="rect">
            <a:avLst/>
          </a:prstGeom>
        </p:spPr>
      </p:pic>
      <p:sp>
        <p:nvSpPr>
          <p:cNvPr id="29" name="Text 22"/>
          <p:cNvSpPr/>
          <p:nvPr/>
        </p:nvSpPr>
        <p:spPr>
          <a:xfrm>
            <a:off x="7552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4</a:t>
            </a:r>
            <a:endParaRPr lang="en-US" sz="1300" dirty="0"/>
          </a:p>
        </p:txBody>
      </p:sp>
      <p:sp>
        <p:nvSpPr>
          <p:cNvPr id="30" name="Text 23"/>
          <p:cNvSpPr/>
          <p:nvPr/>
        </p:nvSpPr>
        <p:spPr>
          <a:xfrm>
            <a:off x="7498080" y="3968496"/>
            <a:ext cx="1938528" cy="457200"/>
          </a:xfrm>
          <a:prstGeom prst="rect">
            <a:avLst/>
          </a:prstGeom>
          <a:noFill/>
          <a:ln/>
        </p:spPr>
        <p:txBody>
          <a:bodyPr wrap="square" lIns="0" tIns="0" rIns="0" bIns="0" rtlCol="0" anchor="t"/>
          <a:lstStyle/>
          <a:p>
            <a:pPr marL="0" indent="0" algn="ctr">
              <a:lnSpc>
                <a:spcPct val="95000"/>
              </a:lnSpc>
              <a:buNone/>
            </a:pPr>
            <a:r>
              <a:rPr lang="en-US" sz="1300" b="1" dirty="0">
                <a:solidFill>
                  <a:srgbClr val="16263F"/>
                </a:solidFill>
                <a:latin typeface="Calibri" pitchFamily="34" charset="0"/>
                <a:ea typeface="Calibri" pitchFamily="34" charset="-122"/>
                <a:cs typeface="Calibri" pitchFamily="34" charset="-120"/>
              </a:rPr>
              <a:t>Feature engineering</a:t>
            </a:r>
            <a:endParaRPr lang="en-US" sz="1300" dirty="0"/>
          </a:p>
        </p:txBody>
      </p:sp>
      <p:sp>
        <p:nvSpPr>
          <p:cNvPr id="31" name="Text 24"/>
          <p:cNvSpPr/>
          <p:nvPr/>
        </p:nvSpPr>
        <p:spPr>
          <a:xfrm>
            <a:off x="7516368" y="4498848"/>
            <a:ext cx="1901952" cy="457200"/>
          </a:xfrm>
          <a:prstGeom prst="rect">
            <a:avLst/>
          </a:prstGeom>
          <a:noFill/>
          <a:ln/>
        </p:spPr>
        <p:txBody>
          <a:bodyPr wrap="square" lIns="0" tIns="0" rIns="0" bIns="0" rtlCol="0" anchor="t"/>
          <a:lstStyle/>
          <a:p>
            <a:pPr marL="0" indent="0" algn="ctr">
              <a:buNone/>
            </a:pPr>
            <a:r>
              <a:rPr lang="en-US" sz="1030" dirty="0">
                <a:solidFill>
                  <a:srgbClr val="5C6B7A"/>
                </a:solidFill>
                <a:latin typeface="Calibri" pitchFamily="34" charset="0"/>
                <a:ea typeface="Calibri" pitchFamily="34" charset="-122"/>
                <a:cs typeface="Calibri" pitchFamily="34" charset="-120"/>
              </a:rPr>
              <a:t>create better inputs</a:t>
            </a:r>
            <a:endParaRPr lang="en-US" sz="1030" dirty="0"/>
          </a:p>
        </p:txBody>
      </p:sp>
      <p:sp>
        <p:nvSpPr>
          <p:cNvPr id="32" name="Shape 25"/>
          <p:cNvSpPr/>
          <p:nvPr/>
        </p:nvSpPr>
        <p:spPr>
          <a:xfrm>
            <a:off x="9692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33" name="Shape 26"/>
          <p:cNvSpPr/>
          <p:nvPr/>
        </p:nvSpPr>
        <p:spPr>
          <a:xfrm>
            <a:off x="10369296" y="3035808"/>
            <a:ext cx="768096" cy="768096"/>
          </a:xfrm>
          <a:prstGeom prst="ellipse">
            <a:avLst/>
          </a:prstGeom>
          <a:solidFill>
            <a:srgbClr val="16263F"/>
          </a:solidFill>
          <a:ln/>
        </p:spPr>
      </p:sp>
      <p:pic>
        <p:nvPicPr>
          <p:cNvPr id="34" name="Image 5" descr="ic_pipeline_white.png"/>
          <p:cNvPicPr>
            <a:picLocks noChangeAspect="1"/>
          </p:cNvPicPr>
          <p:nvPr/>
        </p:nvPicPr>
        <p:blipFill>
          <a:blip r:embed="rId8"/>
          <a:stretch>
            <a:fillRect/>
          </a:stretch>
        </p:blipFill>
        <p:spPr>
          <a:xfrm>
            <a:off x="10552176" y="3236976"/>
            <a:ext cx="402336" cy="402336"/>
          </a:xfrm>
          <a:prstGeom prst="rect">
            <a:avLst/>
          </a:prstGeom>
        </p:spPr>
      </p:pic>
      <p:sp>
        <p:nvSpPr>
          <p:cNvPr id="35" name="Text 27"/>
          <p:cNvSpPr/>
          <p:nvPr/>
        </p:nvSpPr>
        <p:spPr>
          <a:xfrm>
            <a:off x="9838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5</a:t>
            </a:r>
            <a:endParaRPr lang="en-US" sz="1300" dirty="0"/>
          </a:p>
        </p:txBody>
      </p:sp>
      <p:sp>
        <p:nvSpPr>
          <p:cNvPr id="36" name="Text 28"/>
          <p:cNvSpPr/>
          <p:nvPr/>
        </p:nvSpPr>
        <p:spPr>
          <a:xfrm>
            <a:off x="9784080" y="3968496"/>
            <a:ext cx="1938528" cy="457200"/>
          </a:xfrm>
          <a:prstGeom prst="rect">
            <a:avLst/>
          </a:prstGeom>
          <a:noFill/>
          <a:ln/>
        </p:spPr>
        <p:txBody>
          <a:bodyPr wrap="square" lIns="0" tIns="0" rIns="0" bIns="0" rtlCol="0" anchor="t"/>
          <a:lstStyle/>
          <a:p>
            <a:pPr marL="0" indent="0" algn="ctr">
              <a:lnSpc>
                <a:spcPct val="95000"/>
              </a:lnSpc>
              <a:buNone/>
            </a:pPr>
            <a:r>
              <a:rPr lang="en-US" sz="1300" b="1" dirty="0">
                <a:solidFill>
                  <a:srgbClr val="16263F"/>
                </a:solidFill>
                <a:latin typeface="Calibri" pitchFamily="34" charset="0"/>
                <a:ea typeface="Calibri" pitchFamily="34" charset="-122"/>
                <a:cs typeface="Calibri" pitchFamily="34" charset="-120"/>
              </a:rPr>
              <a:t>Pipelines</a:t>
            </a:r>
            <a:endParaRPr lang="en-US" sz="1300" dirty="0"/>
          </a:p>
        </p:txBody>
      </p:sp>
      <p:sp>
        <p:nvSpPr>
          <p:cNvPr id="37" name="Text 29"/>
          <p:cNvSpPr/>
          <p:nvPr/>
        </p:nvSpPr>
        <p:spPr>
          <a:xfrm>
            <a:off x="9802368" y="4498848"/>
            <a:ext cx="1901952" cy="457200"/>
          </a:xfrm>
          <a:prstGeom prst="rect">
            <a:avLst/>
          </a:prstGeom>
          <a:noFill/>
          <a:ln/>
        </p:spPr>
        <p:txBody>
          <a:bodyPr wrap="square" lIns="0" tIns="0" rIns="0" bIns="0" rtlCol="0" anchor="t"/>
          <a:lstStyle/>
          <a:p>
            <a:pPr marL="0" indent="0" algn="ctr">
              <a:buNone/>
            </a:pPr>
            <a:r>
              <a:rPr lang="en-US" sz="1030" dirty="0">
                <a:solidFill>
                  <a:srgbClr val="5C6B7A"/>
                </a:solidFill>
                <a:latin typeface="Calibri" pitchFamily="34" charset="0"/>
                <a:ea typeface="Calibri" pitchFamily="34" charset="-122"/>
                <a:cs typeface="Calibri" pitchFamily="34" charset="-120"/>
              </a:rPr>
              <a:t>do it without leakage</a:t>
            </a:r>
            <a:endParaRPr lang="en-US" sz="1030" dirty="0"/>
          </a:p>
        </p:txBody>
      </p:sp>
      <p:sp>
        <p:nvSpPr>
          <p:cNvPr id="38" name="Text 30"/>
          <p:cNvSpPr/>
          <p:nvPr/>
        </p:nvSpPr>
        <p:spPr>
          <a:xfrm>
            <a:off x="548640" y="5321808"/>
            <a:ext cx="11064240" cy="36576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Recap: Part 1 fixed missing values, duplicates, types, outliers &amp; text. Now we transform for the model.</a:t>
            </a:r>
            <a:endParaRPr lang="en-US" sz="1200" dirty="0"/>
          </a:p>
        </p:txBody>
      </p:sp>
      <p:sp>
        <p:nvSpPr>
          <p:cNvPr id="39" name="Text 31"/>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40" name="Text 32"/>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63F"/>
        </a:solidFill>
        <a:effectLst/>
      </p:bgPr>
    </p:bg>
    <p:spTree>
      <p:nvGrpSpPr>
        <p:cNvPr id="1" name=""/>
        <p:cNvGrpSpPr/>
        <p:nvPr/>
      </p:nvGrpSpPr>
      <p:grpSpPr>
        <a:xfrm>
          <a:off x="0" y="0"/>
          <a:ext cx="0" cy="0"/>
          <a:chOff x="0" y="0"/>
          <a:chExt cx="0" cy="0"/>
        </a:xfrm>
      </p:grpSpPr>
      <p:sp>
        <p:nvSpPr>
          <p:cNvPr id="2" name="Text 0"/>
          <p:cNvSpPr/>
          <p:nvPr/>
        </p:nvSpPr>
        <p:spPr>
          <a:xfrm>
            <a:off x="9509760" y="914400"/>
            <a:ext cx="2286000" cy="4572000"/>
          </a:xfrm>
          <a:prstGeom prst="rect">
            <a:avLst/>
          </a:prstGeom>
          <a:noFill/>
          <a:ln/>
        </p:spPr>
        <p:txBody>
          <a:bodyPr wrap="square" lIns="0" tIns="0" rIns="0" bIns="0" rtlCol="0" anchor="ctr"/>
          <a:lstStyle/>
          <a:p>
            <a:pPr marL="0" indent="0" algn="r">
              <a:buNone/>
            </a:pPr>
            <a:r>
              <a:rPr lang="en-US" sz="24000" b="1" dirty="0">
                <a:solidFill>
                  <a:srgbClr val="1F3656"/>
                </a:solidFill>
                <a:latin typeface="Century Schoolbook" pitchFamily="34" charset="0"/>
                <a:ea typeface="Century Schoolbook" pitchFamily="34" charset="-122"/>
                <a:cs typeface="Century Schoolbook" pitchFamily="34" charset="-120"/>
              </a:rPr>
              <a:t>1</a:t>
            </a:r>
            <a:endParaRPr lang="en-US" sz="24000" dirty="0"/>
          </a:p>
        </p:txBody>
      </p:sp>
      <p:sp>
        <p:nvSpPr>
          <p:cNvPr id="3" name="Shape 1"/>
          <p:cNvSpPr/>
          <p:nvPr/>
        </p:nvSpPr>
        <p:spPr>
          <a:xfrm>
            <a:off x="822960" y="1783080"/>
            <a:ext cx="1051560" cy="1051560"/>
          </a:xfrm>
          <a:prstGeom prst="ellipse">
            <a:avLst/>
          </a:prstGeom>
          <a:solidFill>
            <a:srgbClr val="F4B942"/>
          </a:solidFill>
          <a:ln/>
          <a:effectLst>
            <a:outerShdw blurRad="101600" dist="38100" dir="5400000" algn="bl" rotWithShape="0">
              <a:srgbClr val="000000">
                <a:alpha val="14000"/>
              </a:srgbClr>
            </a:outerShdw>
          </a:effectLst>
        </p:spPr>
      </p:sp>
      <p:pic>
        <p:nvPicPr>
          <p:cNvPr id="4" name="Image 0" descr="ic_tags_white.png"/>
          <p:cNvPicPr>
            <a:picLocks noChangeAspect="1"/>
          </p:cNvPicPr>
          <p:nvPr/>
        </p:nvPicPr>
        <p:blipFill>
          <a:blip r:embed="rId3"/>
          <a:stretch>
            <a:fillRect/>
          </a:stretch>
        </p:blipFill>
        <p:spPr>
          <a:xfrm>
            <a:off x="1085850" y="2045970"/>
            <a:ext cx="525780" cy="525780"/>
          </a:xfrm>
          <a:prstGeom prst="rect">
            <a:avLst/>
          </a:prstGeom>
        </p:spPr>
      </p:pic>
      <p:sp>
        <p:nvSpPr>
          <p:cNvPr id="5" name="Text 2"/>
          <p:cNvSpPr/>
          <p:nvPr/>
        </p:nvSpPr>
        <p:spPr>
          <a:xfrm>
            <a:off x="2148840" y="1847088"/>
            <a:ext cx="7315200" cy="365760"/>
          </a:xfrm>
          <a:prstGeom prst="rect">
            <a:avLst/>
          </a:prstGeom>
          <a:noFill/>
          <a:ln/>
        </p:spPr>
        <p:txBody>
          <a:bodyPr wrap="square" lIns="0" tIns="0" rIns="0" bIns="0" rtlCol="0" anchor="ctr"/>
          <a:lstStyle/>
          <a:p>
            <a:pPr marL="0" indent="0" algn="l">
              <a:buNone/>
            </a:pPr>
            <a:r>
              <a:rPr lang="en-US" sz="1400" b="1" kern="0" spc="300" dirty="0">
                <a:solidFill>
                  <a:srgbClr val="F4B942"/>
                </a:solidFill>
                <a:latin typeface="Calibri" pitchFamily="34" charset="0"/>
                <a:ea typeface="Calibri" pitchFamily="34" charset="-122"/>
                <a:cs typeface="Calibri" pitchFamily="34" charset="-120"/>
              </a:rPr>
              <a:t>MAKE IT NUMERIC</a:t>
            </a:r>
            <a:endParaRPr lang="en-US" sz="1400" dirty="0"/>
          </a:p>
        </p:txBody>
      </p:sp>
      <p:sp>
        <p:nvSpPr>
          <p:cNvPr id="6" name="Text 3"/>
          <p:cNvSpPr/>
          <p:nvPr/>
        </p:nvSpPr>
        <p:spPr>
          <a:xfrm>
            <a:off x="2121408" y="2231136"/>
            <a:ext cx="6949440" cy="1371600"/>
          </a:xfrm>
          <a:prstGeom prst="rect">
            <a:avLst/>
          </a:prstGeom>
          <a:noFill/>
          <a:ln/>
        </p:spPr>
        <p:txBody>
          <a:bodyPr wrap="square" lIns="0" tIns="0" rIns="0" bIns="0" rtlCol="0" anchor="t"/>
          <a:lstStyle/>
          <a:p>
            <a:pPr marL="0" indent="0" algn="l">
              <a:buNone/>
            </a:pPr>
            <a:r>
              <a:rPr lang="en-US" sz="3800" b="1" dirty="0">
                <a:solidFill>
                  <a:srgbClr val="FFFFFF"/>
                </a:solidFill>
                <a:latin typeface="Century Schoolbook" pitchFamily="34" charset="0"/>
                <a:ea typeface="Century Schoolbook" pitchFamily="34" charset="-122"/>
                <a:cs typeface="Century Schoolbook" pitchFamily="34" charset="-120"/>
              </a:rPr>
              <a:t>Encoding categorical data</a:t>
            </a:r>
            <a:endParaRPr lang="en-US" sz="3800" dirty="0"/>
          </a:p>
        </p:txBody>
      </p:sp>
      <p:sp>
        <p:nvSpPr>
          <p:cNvPr id="7" name="Text 4"/>
          <p:cNvSpPr/>
          <p:nvPr/>
        </p:nvSpPr>
        <p:spPr>
          <a:xfrm>
            <a:off x="2148840" y="4160520"/>
            <a:ext cx="6583680" cy="1097280"/>
          </a:xfrm>
          <a:prstGeom prst="rect">
            <a:avLst/>
          </a:prstGeom>
          <a:noFill/>
          <a:ln/>
        </p:spPr>
        <p:txBody>
          <a:bodyPr wrap="square" lIns="0" tIns="0" rIns="0" bIns="0" rtlCol="0" anchor="t"/>
          <a:lstStyle/>
          <a:p>
            <a:pPr marL="0" indent="0" algn="l">
              <a:lnSpc>
                <a:spcPct val="110000"/>
              </a:lnSpc>
              <a:buNone/>
            </a:pPr>
            <a:r>
              <a:rPr lang="en-US" sz="1600" dirty="0">
                <a:solidFill>
                  <a:srgbClr val="AFC2D6"/>
                </a:solidFill>
                <a:latin typeface="Calibri" pitchFamily="34" charset="0"/>
                <a:ea typeface="Calibri" pitchFamily="34" charset="-122"/>
                <a:cs typeface="Calibri" pitchFamily="34" charset="-120"/>
              </a:rPr>
              <a:t>Models do maths, not words. Turn categories into numbers — the right way for each kind.</a:t>
            </a:r>
            <a:endParaRPr lang="en-US" sz="1600" dirty="0"/>
          </a:p>
        </p:txBody>
      </p:sp>
      <p:sp>
        <p:nvSpPr>
          <p:cNvPr id="8" name="Text 5"/>
          <p:cNvSpPr/>
          <p:nvPr/>
        </p:nvSpPr>
        <p:spPr>
          <a:xfrm>
            <a:off x="822960" y="6263640"/>
            <a:ext cx="8229600" cy="274320"/>
          </a:xfrm>
          <a:prstGeom prst="rect">
            <a:avLst/>
          </a:prstGeom>
          <a:noFill/>
          <a:ln/>
        </p:spPr>
        <p:txBody>
          <a:bodyPr wrap="square" lIns="0" tIns="0" rIns="0" bIns="0" rtlCol="0" anchor="ctr"/>
          <a:lstStyle/>
          <a:p>
            <a:pPr marL="0" indent="0" algn="l">
              <a:buNone/>
            </a:pPr>
            <a:r>
              <a:rPr lang="en-US" sz="1050" dirty="0">
                <a:solidFill>
                  <a:srgbClr val="6E83A0"/>
                </a:solidFill>
                <a:latin typeface="Calibri" pitchFamily="34" charset="0"/>
                <a:ea typeface="Calibri" pitchFamily="34" charset="-122"/>
                <a:cs typeface="Calibri" pitchFamily="34" charset="-120"/>
              </a:rPr>
              <a:t>Data Cleaning · Part 2 · Phase C  ·  01 / 06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E85FC-7B10-59A4-C58A-B08BCE1FD386}"/>
              </a:ext>
            </a:extLst>
          </p:cNvPr>
          <p:cNvSpPr txBox="1"/>
          <p:nvPr/>
        </p:nvSpPr>
        <p:spPr>
          <a:xfrm>
            <a:off x="403411" y="485926"/>
            <a:ext cx="11376213" cy="4524315"/>
          </a:xfrm>
          <a:prstGeom prst="rect">
            <a:avLst/>
          </a:prstGeom>
          <a:noFill/>
        </p:spPr>
        <p:txBody>
          <a:bodyPr wrap="square">
            <a:spAutoFit/>
          </a:bodyPr>
          <a:lstStyle/>
          <a:p>
            <a:pPr algn="just"/>
            <a:r>
              <a:rPr lang="en-US" b="0" i="0" dirty="0">
                <a:solidFill>
                  <a:srgbClr val="273239"/>
                </a:solidFill>
                <a:effectLst/>
                <a:latin typeface="Nunito" pitchFamily="2" charset="0"/>
              </a:rPr>
              <a:t>Categorical data refers to variables that belong to distinct categories such as labels, names or types. Since most machine learning algorithms require numerical inputs, encoding categorical data to numerical data becomes important. Proper encoding ensures that models can interpret categorical variables effectively, leading to improved predictive accuracy and reduced bias.</a:t>
            </a:r>
          </a:p>
          <a:p>
            <a:pPr algn="just"/>
            <a:endParaRPr lang="en-US" dirty="0">
              <a:solidFill>
                <a:srgbClr val="273239"/>
              </a:solidFill>
              <a:latin typeface="Nunito" pitchFamily="2" charset="0"/>
            </a:endParaRPr>
          </a:p>
          <a:p>
            <a:pPr algn="just"/>
            <a:endParaRPr lang="en-US" dirty="0">
              <a:solidFill>
                <a:srgbClr val="273239"/>
              </a:solidFill>
              <a:latin typeface="Nunito" pitchFamily="2" charset="0"/>
            </a:endParaRPr>
          </a:p>
          <a:p>
            <a:pPr fontAlgn="base"/>
            <a:r>
              <a:rPr lang="en-US" b="1" dirty="0"/>
              <a:t>Types of Categorical Data</a:t>
            </a:r>
          </a:p>
          <a:p>
            <a:pPr fontAlgn="base"/>
            <a:r>
              <a:rPr lang="en-US" b="1" dirty="0"/>
              <a:t>1. Nominal Data:</a:t>
            </a:r>
            <a:r>
              <a:rPr lang="en-US" dirty="0"/>
              <a:t> </a:t>
            </a:r>
            <a:r>
              <a:rPr lang="en-US" u="sng" dirty="0">
                <a:hlinkClick r:id="rId2"/>
              </a:rPr>
              <a:t>Nominal data </a:t>
            </a:r>
            <a:r>
              <a:rPr lang="en-US" dirty="0"/>
              <a:t>consists of categories without any inherent order or ranking. These are simple labels used to classify data.</a:t>
            </a:r>
          </a:p>
          <a:p>
            <a:pPr fontAlgn="base"/>
            <a:r>
              <a:rPr lang="en-US" b="1" dirty="0"/>
              <a:t>Example</a:t>
            </a:r>
            <a:r>
              <a:rPr lang="en-US" dirty="0"/>
              <a:t>: 'Red', 'Blue', 'Green' (Car Color).</a:t>
            </a:r>
          </a:p>
          <a:p>
            <a:pPr fontAlgn="base"/>
            <a:r>
              <a:rPr lang="en-US" b="1" dirty="0"/>
              <a:t>Encoding Options</a:t>
            </a:r>
            <a:r>
              <a:rPr lang="en-US" dirty="0"/>
              <a:t>: One-Hot Encoding or Label Encoding, depending on the model's needs.</a:t>
            </a:r>
          </a:p>
          <a:p>
            <a:pPr fontAlgn="base"/>
            <a:r>
              <a:rPr lang="en-US" b="1" dirty="0"/>
              <a:t>2. Ordinal Data: </a:t>
            </a:r>
            <a:r>
              <a:rPr lang="en-US" u="sng" dirty="0">
                <a:hlinkClick r:id="rId3"/>
              </a:rPr>
              <a:t>Ordinal data</a:t>
            </a:r>
            <a:r>
              <a:rPr lang="en-US" dirty="0"/>
              <a:t> includes categories with a defined order or ranking, where the relationship between values is important.</a:t>
            </a:r>
          </a:p>
          <a:p>
            <a:pPr fontAlgn="base"/>
            <a:r>
              <a:rPr lang="en-US" b="1" dirty="0"/>
              <a:t>Example</a:t>
            </a:r>
            <a:r>
              <a:rPr lang="en-US" dirty="0"/>
              <a:t>: 'Low', 'Medium', 'High' (Car Engine Power).</a:t>
            </a:r>
          </a:p>
          <a:p>
            <a:pPr fontAlgn="base"/>
            <a:r>
              <a:rPr lang="en-US" b="1" dirty="0"/>
              <a:t>Encoding Options</a:t>
            </a:r>
            <a:r>
              <a:rPr lang="en-US" dirty="0"/>
              <a:t>: Ordinal Encoding.</a:t>
            </a:r>
          </a:p>
          <a:p>
            <a:pPr algn="just"/>
            <a:endParaRPr lang="en-US" dirty="0"/>
          </a:p>
        </p:txBody>
      </p:sp>
    </p:spTree>
    <p:extLst>
      <p:ext uri="{BB962C8B-B14F-4D97-AF65-F5344CB8AC3E}">
        <p14:creationId xmlns:p14="http://schemas.microsoft.com/office/powerpoint/2010/main" val="925040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B4FCD-F2BE-3D8D-1915-1F24A1F0BF29}"/>
              </a:ext>
            </a:extLst>
          </p:cNvPr>
          <p:cNvPicPr>
            <a:picLocks noChangeAspect="1"/>
          </p:cNvPicPr>
          <p:nvPr/>
        </p:nvPicPr>
        <p:blipFill>
          <a:blip r:embed="rId2"/>
          <a:stretch>
            <a:fillRect/>
          </a:stretch>
        </p:blipFill>
        <p:spPr>
          <a:xfrm>
            <a:off x="457200" y="573741"/>
            <a:ext cx="10694893" cy="5665694"/>
          </a:xfrm>
          <a:prstGeom prst="rect">
            <a:avLst/>
          </a:prstGeom>
        </p:spPr>
      </p:pic>
      <p:sp>
        <p:nvSpPr>
          <p:cNvPr id="5" name="TextBox 4">
            <a:extLst>
              <a:ext uri="{FF2B5EF4-FFF2-40B4-BE49-F238E27FC236}">
                <a16:creationId xmlns:a16="http://schemas.microsoft.com/office/drawing/2014/main" id="{88A150C1-8B52-95C8-EF06-F17682B85433}"/>
              </a:ext>
            </a:extLst>
          </p:cNvPr>
          <p:cNvSpPr txBox="1"/>
          <p:nvPr/>
        </p:nvSpPr>
        <p:spPr>
          <a:xfrm>
            <a:off x="457200" y="109572"/>
            <a:ext cx="6096000" cy="363561"/>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Techniques to perform Categorical Data Encoding</a:t>
            </a:r>
          </a:p>
        </p:txBody>
      </p:sp>
    </p:spTree>
    <p:extLst>
      <p:ext uri="{BB962C8B-B14F-4D97-AF65-F5344CB8AC3E}">
        <p14:creationId xmlns:p14="http://schemas.microsoft.com/office/powerpoint/2010/main" val="126727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D7B951-5BEA-6B18-C1BE-FEB87CAB964E}"/>
              </a:ext>
            </a:extLst>
          </p:cNvPr>
          <p:cNvSpPr txBox="1"/>
          <p:nvPr/>
        </p:nvSpPr>
        <p:spPr>
          <a:xfrm>
            <a:off x="349625" y="331154"/>
            <a:ext cx="6104964" cy="3649717"/>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1. Label Encoding</a:t>
            </a:r>
          </a:p>
          <a:p>
            <a:pPr algn="just" rtl="0" fontAlgn="base">
              <a:spcAft>
                <a:spcPts val="750"/>
              </a:spcAft>
              <a:buNone/>
            </a:pPr>
            <a:r>
              <a:rPr lang="en-US" b="0" i="0" u="sng" dirty="0">
                <a:solidFill>
                  <a:srgbClr val="357960"/>
                </a:solidFill>
                <a:effectLst/>
                <a:latin typeface="Nunito" pitchFamily="2" charset="0"/>
                <a:hlinkClick r:id="rId2"/>
              </a:rPr>
              <a:t>Label Encoding</a:t>
            </a:r>
            <a:r>
              <a:rPr lang="en-US" b="0" i="0" dirty="0">
                <a:solidFill>
                  <a:srgbClr val="273239"/>
                </a:solidFill>
                <a:effectLst/>
                <a:latin typeface="Nunito" pitchFamily="2" charset="0"/>
              </a:rPr>
              <a:t> assigns each category a unique integer. It is simple and memory-efficient but may unintentionally imply an order among categories when none exists.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Used in tree-based models like Decision Trees or </a:t>
            </a:r>
            <a:r>
              <a:rPr lang="en-US" b="0" i="0" dirty="0" err="1">
                <a:solidFill>
                  <a:srgbClr val="273239"/>
                </a:solidFill>
                <a:effectLst/>
                <a:latin typeface="Nunito" pitchFamily="2" charset="0"/>
              </a:rPr>
              <a:t>XGBoost</a:t>
            </a:r>
            <a:r>
              <a:rPr lang="en-US"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Pros</a:t>
            </a:r>
            <a:r>
              <a:rPr lang="en-US" b="0" i="0" dirty="0">
                <a:solidFill>
                  <a:srgbClr val="273239"/>
                </a:solidFill>
                <a:effectLst/>
                <a:latin typeface="Nunito" pitchFamily="2" charset="0"/>
              </a:rPr>
              <a:t>: Simple and memory-efficient.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Cons</a:t>
            </a:r>
            <a:r>
              <a:rPr lang="en-US" b="0" i="0" dirty="0">
                <a:solidFill>
                  <a:srgbClr val="273239"/>
                </a:solidFill>
                <a:effectLst/>
                <a:latin typeface="Nunito" pitchFamily="2" charset="0"/>
              </a:rPr>
              <a:t>: Introduces implicit order which may be misinterpreted by non-tree models when used with nominal data.</a:t>
            </a:r>
          </a:p>
        </p:txBody>
      </p:sp>
      <p:pic>
        <p:nvPicPr>
          <p:cNvPr id="5" name="Picture 4">
            <a:extLst>
              <a:ext uri="{FF2B5EF4-FFF2-40B4-BE49-F238E27FC236}">
                <a16:creationId xmlns:a16="http://schemas.microsoft.com/office/drawing/2014/main" id="{8E22FBC5-3CFB-A72B-9F8E-7392BF59E69F}"/>
              </a:ext>
            </a:extLst>
          </p:cNvPr>
          <p:cNvPicPr>
            <a:picLocks noChangeAspect="1"/>
          </p:cNvPicPr>
          <p:nvPr/>
        </p:nvPicPr>
        <p:blipFill>
          <a:blip r:embed="rId3"/>
          <a:stretch>
            <a:fillRect/>
          </a:stretch>
        </p:blipFill>
        <p:spPr>
          <a:xfrm>
            <a:off x="6526306" y="797859"/>
            <a:ext cx="5316069" cy="3810000"/>
          </a:xfrm>
          <a:prstGeom prst="rect">
            <a:avLst/>
          </a:prstGeom>
        </p:spPr>
      </p:pic>
      <p:pic>
        <p:nvPicPr>
          <p:cNvPr id="7" name="Picture 6">
            <a:extLst>
              <a:ext uri="{FF2B5EF4-FFF2-40B4-BE49-F238E27FC236}">
                <a16:creationId xmlns:a16="http://schemas.microsoft.com/office/drawing/2014/main" id="{07E2C05E-EA8F-84B1-78A6-394AA2837FA2}"/>
              </a:ext>
            </a:extLst>
          </p:cNvPr>
          <p:cNvPicPr>
            <a:picLocks noChangeAspect="1"/>
          </p:cNvPicPr>
          <p:nvPr/>
        </p:nvPicPr>
        <p:blipFill>
          <a:blip r:embed="rId4"/>
          <a:stretch>
            <a:fillRect/>
          </a:stretch>
        </p:blipFill>
        <p:spPr>
          <a:xfrm>
            <a:off x="349625" y="3980871"/>
            <a:ext cx="6104964" cy="2720576"/>
          </a:xfrm>
          <a:prstGeom prst="rect">
            <a:avLst/>
          </a:prstGeom>
        </p:spPr>
      </p:pic>
    </p:spTree>
    <p:extLst>
      <p:ext uri="{BB962C8B-B14F-4D97-AF65-F5344CB8AC3E}">
        <p14:creationId xmlns:p14="http://schemas.microsoft.com/office/powerpoint/2010/main" val="2913137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603E6F-CD30-3A6F-805A-DF14214F474D}"/>
              </a:ext>
            </a:extLst>
          </p:cNvPr>
          <p:cNvSpPr txBox="1"/>
          <p:nvPr/>
        </p:nvSpPr>
        <p:spPr>
          <a:xfrm>
            <a:off x="242047" y="396279"/>
            <a:ext cx="6096000" cy="2862322"/>
          </a:xfrm>
          <a:prstGeom prst="rect">
            <a:avLst/>
          </a:prstGeom>
          <a:noFill/>
        </p:spPr>
        <p:txBody>
          <a:bodyPr wrap="square">
            <a:spAutoFit/>
          </a:bodyPr>
          <a:lstStyle/>
          <a:p>
            <a:pPr fontAlgn="base"/>
            <a:r>
              <a:rPr lang="en-US" b="1" dirty="0"/>
              <a:t>2. One-Hot Encoding</a:t>
            </a:r>
          </a:p>
          <a:p>
            <a:pPr fontAlgn="base"/>
            <a:r>
              <a:rPr lang="en-US" b="1" u="sng" dirty="0">
                <a:hlinkClick r:id="rId2"/>
              </a:rPr>
              <a:t>One-Hot Encoding</a:t>
            </a:r>
            <a:r>
              <a:rPr lang="en-US" dirty="0"/>
              <a:t> converts categories into binary columns with each column representing one category. It prevents false ordering but can lead to high dimensionality if there are many unique values.</a:t>
            </a:r>
          </a:p>
          <a:p>
            <a:pPr fontAlgn="base"/>
            <a:r>
              <a:rPr lang="en-US" dirty="0"/>
              <a:t>Used in linear models, logistic regression and neural networks.</a:t>
            </a:r>
          </a:p>
          <a:p>
            <a:pPr fontAlgn="base"/>
            <a:r>
              <a:rPr lang="en-US" b="1" dirty="0"/>
              <a:t>Pros</a:t>
            </a:r>
            <a:r>
              <a:rPr lang="en-US" dirty="0"/>
              <a:t>: Does not assume order; widely supported.</a:t>
            </a:r>
          </a:p>
          <a:p>
            <a:pPr fontAlgn="base"/>
            <a:r>
              <a:rPr lang="en-US" b="1" dirty="0"/>
              <a:t>Cons</a:t>
            </a:r>
            <a:r>
              <a:rPr lang="en-US" dirty="0"/>
              <a:t>: Can cause high dimensionality and sparse data when feature has many categories.</a:t>
            </a:r>
          </a:p>
          <a:p>
            <a:endParaRPr lang="en-US" dirty="0"/>
          </a:p>
        </p:txBody>
      </p:sp>
      <p:pic>
        <p:nvPicPr>
          <p:cNvPr id="5" name="Picture 4">
            <a:extLst>
              <a:ext uri="{FF2B5EF4-FFF2-40B4-BE49-F238E27FC236}">
                <a16:creationId xmlns:a16="http://schemas.microsoft.com/office/drawing/2014/main" id="{E770F99D-FECC-DBC9-5F90-83A0EC5EE418}"/>
              </a:ext>
            </a:extLst>
          </p:cNvPr>
          <p:cNvPicPr>
            <a:picLocks noChangeAspect="1"/>
          </p:cNvPicPr>
          <p:nvPr/>
        </p:nvPicPr>
        <p:blipFill>
          <a:blip r:embed="rId3"/>
          <a:stretch>
            <a:fillRect/>
          </a:stretch>
        </p:blipFill>
        <p:spPr>
          <a:xfrm>
            <a:off x="6194612" y="466165"/>
            <a:ext cx="5755341" cy="3810000"/>
          </a:xfrm>
          <a:prstGeom prst="rect">
            <a:avLst/>
          </a:prstGeom>
        </p:spPr>
      </p:pic>
      <p:pic>
        <p:nvPicPr>
          <p:cNvPr id="7" name="Picture 6">
            <a:extLst>
              <a:ext uri="{FF2B5EF4-FFF2-40B4-BE49-F238E27FC236}">
                <a16:creationId xmlns:a16="http://schemas.microsoft.com/office/drawing/2014/main" id="{13D55DD3-D432-1152-FD79-AA947DFE5337}"/>
              </a:ext>
            </a:extLst>
          </p:cNvPr>
          <p:cNvPicPr>
            <a:picLocks noChangeAspect="1"/>
          </p:cNvPicPr>
          <p:nvPr/>
        </p:nvPicPr>
        <p:blipFill>
          <a:blip r:embed="rId4"/>
          <a:stretch>
            <a:fillRect/>
          </a:stretch>
        </p:blipFill>
        <p:spPr>
          <a:xfrm>
            <a:off x="449090" y="3093389"/>
            <a:ext cx="5646909" cy="3368332"/>
          </a:xfrm>
          <a:prstGeom prst="rect">
            <a:avLst/>
          </a:prstGeom>
        </p:spPr>
      </p:pic>
    </p:spTree>
    <p:extLst>
      <p:ext uri="{BB962C8B-B14F-4D97-AF65-F5344CB8AC3E}">
        <p14:creationId xmlns:p14="http://schemas.microsoft.com/office/powerpoint/2010/main" val="1874854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hash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THE CORE CONSTRAINT</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Models only understand numbers</a:t>
            </a:r>
            <a:endParaRPr lang="en-US" sz="2700" dirty="0"/>
          </a:p>
        </p:txBody>
      </p:sp>
      <p:sp>
        <p:nvSpPr>
          <p:cNvPr id="6" name="Shape 3"/>
          <p:cNvSpPr/>
          <p:nvPr/>
        </p:nvSpPr>
        <p:spPr>
          <a:xfrm>
            <a:off x="548640" y="1572768"/>
            <a:ext cx="11091672" cy="868680"/>
          </a:xfrm>
          <a:prstGeom prst="roundRect">
            <a:avLst>
              <a:gd name="adj" fmla="val 8421"/>
            </a:avLst>
          </a:prstGeom>
          <a:solidFill>
            <a:srgbClr val="16263F"/>
          </a:solidFill>
          <a:ln/>
          <a:effectLst>
            <a:outerShdw blurRad="101600" dist="38100" dir="5400000" algn="bl" rotWithShape="0">
              <a:srgbClr val="000000">
                <a:alpha val="14000"/>
              </a:srgbClr>
            </a:outerShdw>
          </a:effectLst>
        </p:spPr>
      </p:sp>
      <p:sp>
        <p:nvSpPr>
          <p:cNvPr id="7" name="Text 4"/>
          <p:cNvSpPr/>
          <p:nvPr/>
        </p:nvSpPr>
        <p:spPr>
          <a:xfrm>
            <a:off x="822960" y="1572768"/>
            <a:ext cx="10515600" cy="868680"/>
          </a:xfrm>
          <a:prstGeom prst="rect">
            <a:avLst/>
          </a:prstGeom>
          <a:noFill/>
          <a:ln/>
        </p:spPr>
        <p:txBody>
          <a:bodyPr wrap="square" lIns="0" tIns="0" rIns="0" bIns="0" rtlCol="0" anchor="ctr"/>
          <a:lstStyle/>
          <a:p>
            <a:pPr marL="0" indent="0" algn="l">
              <a:lnSpc>
                <a:spcPct val="105000"/>
              </a:lnSpc>
              <a:buNone/>
            </a:pPr>
            <a:r>
              <a:rPr lang="en-US" sz="1400" b="1" dirty="0">
                <a:solidFill>
                  <a:srgbClr val="F4B942"/>
                </a:solidFill>
                <a:latin typeface="Calibri" pitchFamily="34" charset="0"/>
                <a:ea typeface="Calibri" pitchFamily="34" charset="-122"/>
                <a:cs typeface="Calibri" pitchFamily="34" charset="-120"/>
              </a:rPr>
              <a:t>The constraint:  </a:t>
            </a:r>
            <a:r>
              <a:rPr lang="en-US" sz="1400" dirty="0">
                <a:solidFill>
                  <a:srgbClr val="DCE7F2"/>
                </a:solidFill>
                <a:latin typeface="Calibri" pitchFamily="34" charset="0"/>
                <a:ea typeface="Calibri" pitchFamily="34" charset="-122"/>
                <a:cs typeface="Calibri" pitchFamily="34" charset="-120"/>
              </a:rPr>
              <a:t>an algorithm computes distances, sums and gradients — so every input must be a number, and numbers must be on comparable scales.</a:t>
            </a:r>
            <a:endParaRPr lang="en-US" sz="1400" dirty="0"/>
          </a:p>
        </p:txBody>
      </p:sp>
      <p:sp>
        <p:nvSpPr>
          <p:cNvPr id="8" name="Shape 5"/>
          <p:cNvSpPr/>
          <p:nvPr/>
        </p:nvSpPr>
        <p:spPr>
          <a:xfrm>
            <a:off x="548640" y="2697480"/>
            <a:ext cx="3584448" cy="1828800"/>
          </a:xfrm>
          <a:prstGeom prst="roundRect">
            <a:avLst>
              <a:gd name="adj" fmla="val 4500"/>
            </a:avLst>
          </a:prstGeom>
          <a:solidFill>
            <a:srgbClr val="F2F5F9"/>
          </a:solidFill>
          <a:ln/>
        </p:spPr>
      </p:sp>
      <p:sp>
        <p:nvSpPr>
          <p:cNvPr id="9" name="Shape 6"/>
          <p:cNvSpPr/>
          <p:nvPr/>
        </p:nvSpPr>
        <p:spPr>
          <a:xfrm>
            <a:off x="822960" y="2971800"/>
            <a:ext cx="713232" cy="713232"/>
          </a:xfrm>
          <a:prstGeom prst="ellipse">
            <a:avLst/>
          </a:prstGeom>
          <a:solidFill>
            <a:srgbClr val="16263F"/>
          </a:solidFill>
          <a:ln/>
        </p:spPr>
      </p:sp>
      <p:pic>
        <p:nvPicPr>
          <p:cNvPr id="10" name="Image 1" descr="ic_tags_white.png"/>
          <p:cNvPicPr>
            <a:picLocks noChangeAspect="1"/>
          </p:cNvPicPr>
          <p:nvPr/>
        </p:nvPicPr>
        <p:blipFill>
          <a:blip r:embed="rId4"/>
          <a:stretch>
            <a:fillRect/>
          </a:stretch>
        </p:blipFill>
        <p:spPr>
          <a:xfrm>
            <a:off x="996696" y="3145536"/>
            <a:ext cx="365760" cy="365760"/>
          </a:xfrm>
          <a:prstGeom prst="rect">
            <a:avLst/>
          </a:prstGeom>
        </p:spPr>
      </p:pic>
      <p:sp>
        <p:nvSpPr>
          <p:cNvPr id="11" name="Text 7"/>
          <p:cNvSpPr/>
          <p:nvPr/>
        </p:nvSpPr>
        <p:spPr>
          <a:xfrm>
            <a:off x="1664208" y="3008376"/>
            <a:ext cx="2304288" cy="640080"/>
          </a:xfrm>
          <a:prstGeom prst="rect">
            <a:avLst/>
          </a:prstGeom>
          <a:noFill/>
          <a:ln/>
        </p:spPr>
        <p:txBody>
          <a:bodyPr wrap="square" lIns="0" tIns="0" rIns="0" bIns="0" rtlCol="0" anchor="ctr"/>
          <a:lstStyle/>
          <a:p>
            <a:pPr marL="0" indent="0" algn="l">
              <a:buNone/>
            </a:pPr>
            <a:r>
              <a:rPr lang="en-US" sz="1450" b="1" dirty="0">
                <a:solidFill>
                  <a:srgbClr val="16263F"/>
                </a:solidFill>
                <a:latin typeface="Calibri" pitchFamily="34" charset="0"/>
                <a:ea typeface="Calibri" pitchFamily="34" charset="-122"/>
                <a:cs typeface="Calibri" pitchFamily="34" charset="-120"/>
              </a:rPr>
              <a:t>Text categories</a:t>
            </a:r>
            <a:endParaRPr lang="en-US" sz="1450" dirty="0"/>
          </a:p>
        </p:txBody>
      </p:sp>
      <p:sp>
        <p:nvSpPr>
          <p:cNvPr id="12" name="Text 8"/>
          <p:cNvSpPr/>
          <p:nvPr/>
        </p:nvSpPr>
        <p:spPr>
          <a:xfrm>
            <a:off x="822960" y="3794760"/>
            <a:ext cx="3081528" cy="640080"/>
          </a:xfrm>
          <a:prstGeom prst="rect">
            <a:avLst/>
          </a:prstGeom>
          <a:noFill/>
          <a:ln/>
        </p:spPr>
        <p:txBody>
          <a:bodyPr wrap="square" lIns="0" tIns="0" rIns="0" bIns="0" rtlCol="0" anchor="t"/>
          <a:lstStyle/>
          <a:p>
            <a:pPr marL="0" indent="0" algn="l">
              <a:lnSpc>
                <a:spcPct val="105000"/>
              </a:lnSpc>
              <a:buNone/>
            </a:pPr>
            <a:r>
              <a:rPr lang="en-US" sz="1100" dirty="0">
                <a:solidFill>
                  <a:srgbClr val="5C6B7A"/>
                </a:solidFill>
                <a:latin typeface="Calibri" pitchFamily="34" charset="0"/>
                <a:ea typeface="Calibri" pitchFamily="34" charset="-122"/>
                <a:cs typeface="Calibri" pitchFamily="34" charset="-120"/>
              </a:rPr>
              <a:t>"red", "blue" → must become numbers (encoding)</a:t>
            </a:r>
            <a:endParaRPr lang="en-US" sz="1100" dirty="0"/>
          </a:p>
        </p:txBody>
      </p:sp>
      <p:sp>
        <p:nvSpPr>
          <p:cNvPr id="13" name="Shape 9"/>
          <p:cNvSpPr/>
          <p:nvPr/>
        </p:nvSpPr>
        <p:spPr>
          <a:xfrm>
            <a:off x="4315968" y="2697480"/>
            <a:ext cx="3584448" cy="1828800"/>
          </a:xfrm>
          <a:prstGeom prst="roundRect">
            <a:avLst>
              <a:gd name="adj" fmla="val 4500"/>
            </a:avLst>
          </a:prstGeom>
          <a:solidFill>
            <a:srgbClr val="F2F5F9"/>
          </a:solidFill>
          <a:ln/>
        </p:spPr>
      </p:sp>
      <p:sp>
        <p:nvSpPr>
          <p:cNvPr id="14" name="Shape 10"/>
          <p:cNvSpPr/>
          <p:nvPr/>
        </p:nvSpPr>
        <p:spPr>
          <a:xfrm>
            <a:off x="4590288" y="2971800"/>
            <a:ext cx="713232" cy="713232"/>
          </a:xfrm>
          <a:prstGeom prst="ellipse">
            <a:avLst/>
          </a:prstGeom>
          <a:solidFill>
            <a:srgbClr val="16263F"/>
          </a:solidFill>
          <a:ln/>
        </p:spPr>
      </p:sp>
      <p:pic>
        <p:nvPicPr>
          <p:cNvPr id="15" name="Image 2" descr="ic_scale_white.png"/>
          <p:cNvPicPr>
            <a:picLocks noChangeAspect="1"/>
          </p:cNvPicPr>
          <p:nvPr/>
        </p:nvPicPr>
        <p:blipFill>
          <a:blip r:embed="rId5"/>
          <a:stretch>
            <a:fillRect/>
          </a:stretch>
        </p:blipFill>
        <p:spPr>
          <a:xfrm>
            <a:off x="4764024" y="3145536"/>
            <a:ext cx="365760" cy="365760"/>
          </a:xfrm>
          <a:prstGeom prst="rect">
            <a:avLst/>
          </a:prstGeom>
        </p:spPr>
      </p:pic>
      <p:sp>
        <p:nvSpPr>
          <p:cNvPr id="16" name="Text 11"/>
          <p:cNvSpPr/>
          <p:nvPr/>
        </p:nvSpPr>
        <p:spPr>
          <a:xfrm>
            <a:off x="5431536" y="3008376"/>
            <a:ext cx="2304288" cy="640080"/>
          </a:xfrm>
          <a:prstGeom prst="rect">
            <a:avLst/>
          </a:prstGeom>
          <a:noFill/>
          <a:ln/>
        </p:spPr>
        <p:txBody>
          <a:bodyPr wrap="square" lIns="0" tIns="0" rIns="0" bIns="0" rtlCol="0" anchor="ctr"/>
          <a:lstStyle/>
          <a:p>
            <a:pPr marL="0" indent="0" algn="l">
              <a:buNone/>
            </a:pPr>
            <a:r>
              <a:rPr lang="en-US" sz="1450" b="1" dirty="0">
                <a:solidFill>
                  <a:srgbClr val="16263F"/>
                </a:solidFill>
                <a:latin typeface="Calibri" pitchFamily="34" charset="0"/>
                <a:ea typeface="Calibri" pitchFamily="34" charset="-122"/>
                <a:cs typeface="Calibri" pitchFamily="34" charset="-120"/>
              </a:rPr>
              <a:t>Different scales</a:t>
            </a:r>
            <a:endParaRPr lang="en-US" sz="1450" dirty="0"/>
          </a:p>
        </p:txBody>
      </p:sp>
      <p:sp>
        <p:nvSpPr>
          <p:cNvPr id="17" name="Text 12"/>
          <p:cNvSpPr/>
          <p:nvPr/>
        </p:nvSpPr>
        <p:spPr>
          <a:xfrm>
            <a:off x="4590288" y="3794760"/>
            <a:ext cx="3081528" cy="640080"/>
          </a:xfrm>
          <a:prstGeom prst="rect">
            <a:avLst/>
          </a:prstGeom>
          <a:noFill/>
          <a:ln/>
        </p:spPr>
        <p:txBody>
          <a:bodyPr wrap="square" lIns="0" tIns="0" rIns="0" bIns="0" rtlCol="0" anchor="t"/>
          <a:lstStyle/>
          <a:p>
            <a:pPr marL="0" indent="0" algn="l">
              <a:lnSpc>
                <a:spcPct val="105000"/>
              </a:lnSpc>
              <a:buNone/>
            </a:pPr>
            <a:r>
              <a:rPr lang="en-US" sz="1100" dirty="0">
                <a:solidFill>
                  <a:srgbClr val="5C6B7A"/>
                </a:solidFill>
                <a:latin typeface="Calibri" pitchFamily="34" charset="0"/>
                <a:ea typeface="Calibri" pitchFamily="34" charset="-122"/>
                <a:cs typeface="Calibri" pitchFamily="34" charset="-120"/>
              </a:rPr>
              <a:t>age (0–100) vs income (0–1M) → must be rescaled</a:t>
            </a:r>
            <a:endParaRPr lang="en-US" sz="1100" dirty="0"/>
          </a:p>
        </p:txBody>
      </p:sp>
      <p:sp>
        <p:nvSpPr>
          <p:cNvPr id="18" name="Shape 13"/>
          <p:cNvSpPr/>
          <p:nvPr/>
        </p:nvSpPr>
        <p:spPr>
          <a:xfrm>
            <a:off x="8083296" y="2697480"/>
            <a:ext cx="3584448" cy="1828800"/>
          </a:xfrm>
          <a:prstGeom prst="roundRect">
            <a:avLst>
              <a:gd name="adj" fmla="val 4500"/>
            </a:avLst>
          </a:prstGeom>
          <a:solidFill>
            <a:srgbClr val="F2F5F9"/>
          </a:solidFill>
          <a:ln/>
        </p:spPr>
      </p:sp>
      <p:sp>
        <p:nvSpPr>
          <p:cNvPr id="19" name="Shape 14"/>
          <p:cNvSpPr/>
          <p:nvPr/>
        </p:nvSpPr>
        <p:spPr>
          <a:xfrm>
            <a:off x="8357616" y="2971800"/>
            <a:ext cx="713232" cy="713232"/>
          </a:xfrm>
          <a:prstGeom prst="ellipse">
            <a:avLst/>
          </a:prstGeom>
          <a:solidFill>
            <a:srgbClr val="16263F"/>
          </a:solidFill>
          <a:ln/>
        </p:spPr>
      </p:sp>
      <p:pic>
        <p:nvPicPr>
          <p:cNvPr id="20" name="Image 3" descr="ic_magic_white.png"/>
          <p:cNvPicPr>
            <a:picLocks noChangeAspect="1"/>
          </p:cNvPicPr>
          <p:nvPr/>
        </p:nvPicPr>
        <p:blipFill>
          <a:blip r:embed="rId6"/>
          <a:stretch>
            <a:fillRect/>
          </a:stretch>
        </p:blipFill>
        <p:spPr>
          <a:xfrm>
            <a:off x="8531352" y="3145536"/>
            <a:ext cx="365760" cy="365760"/>
          </a:xfrm>
          <a:prstGeom prst="rect">
            <a:avLst/>
          </a:prstGeom>
        </p:spPr>
      </p:pic>
      <p:sp>
        <p:nvSpPr>
          <p:cNvPr id="21" name="Text 15"/>
          <p:cNvSpPr/>
          <p:nvPr/>
        </p:nvSpPr>
        <p:spPr>
          <a:xfrm>
            <a:off x="9198864" y="3008376"/>
            <a:ext cx="2304288" cy="640080"/>
          </a:xfrm>
          <a:prstGeom prst="rect">
            <a:avLst/>
          </a:prstGeom>
          <a:noFill/>
          <a:ln/>
        </p:spPr>
        <p:txBody>
          <a:bodyPr wrap="square" lIns="0" tIns="0" rIns="0" bIns="0" rtlCol="0" anchor="ctr"/>
          <a:lstStyle/>
          <a:p>
            <a:pPr marL="0" indent="0" algn="l">
              <a:buNone/>
            </a:pPr>
            <a:r>
              <a:rPr lang="en-US" sz="1450" b="1" dirty="0">
                <a:solidFill>
                  <a:srgbClr val="16263F"/>
                </a:solidFill>
                <a:latin typeface="Calibri" pitchFamily="34" charset="0"/>
                <a:ea typeface="Calibri" pitchFamily="34" charset="-122"/>
                <a:cs typeface="Calibri" pitchFamily="34" charset="-120"/>
              </a:rPr>
              <a:t>Weak raw features</a:t>
            </a:r>
            <a:endParaRPr lang="en-US" sz="1450" dirty="0"/>
          </a:p>
        </p:txBody>
      </p:sp>
      <p:sp>
        <p:nvSpPr>
          <p:cNvPr id="22" name="Text 16"/>
          <p:cNvSpPr/>
          <p:nvPr/>
        </p:nvSpPr>
        <p:spPr>
          <a:xfrm>
            <a:off x="8357616" y="3794760"/>
            <a:ext cx="3081528" cy="640080"/>
          </a:xfrm>
          <a:prstGeom prst="rect">
            <a:avLst/>
          </a:prstGeom>
          <a:noFill/>
          <a:ln/>
        </p:spPr>
        <p:txBody>
          <a:bodyPr wrap="square" lIns="0" tIns="0" rIns="0" bIns="0" rtlCol="0" anchor="t"/>
          <a:lstStyle/>
          <a:p>
            <a:pPr marL="0" indent="0" algn="l">
              <a:lnSpc>
                <a:spcPct val="105000"/>
              </a:lnSpc>
              <a:buNone/>
            </a:pPr>
            <a:r>
              <a:rPr lang="en-US" sz="1100" dirty="0">
                <a:solidFill>
                  <a:srgbClr val="5C6B7A"/>
                </a:solidFill>
                <a:latin typeface="Calibri" pitchFamily="34" charset="0"/>
                <a:ea typeface="Calibri" pitchFamily="34" charset="-122"/>
                <a:cs typeface="Calibri" pitchFamily="34" charset="-120"/>
              </a:rPr>
              <a:t>a date → day-of-week, is-weekend (engineering)</a:t>
            </a:r>
            <a:endParaRPr lang="en-US" sz="1100" dirty="0"/>
          </a:p>
        </p:txBody>
      </p:sp>
      <p:sp>
        <p:nvSpPr>
          <p:cNvPr id="23" name="Text 17"/>
          <p:cNvSpPr/>
          <p:nvPr/>
        </p:nvSpPr>
        <p:spPr>
          <a:xfrm>
            <a:off x="548640" y="4663440"/>
            <a:ext cx="11064240" cy="36576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These three fixes — encode, scale, engineer — turn clean data into model-ready data.</a:t>
            </a:r>
            <a:endParaRPr lang="en-US" sz="1200" dirty="0"/>
          </a:p>
        </p:txBody>
      </p:sp>
      <p:sp>
        <p:nvSpPr>
          <p:cNvPr id="24" name="Text 18"/>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25" name="Text 19"/>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tags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CATEGORIES → NUMBERS</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Label vs one-hot encoding</a:t>
            </a:r>
            <a:endParaRPr lang="en-US" sz="2700" dirty="0"/>
          </a:p>
        </p:txBody>
      </p:sp>
      <p:sp>
        <p:nvSpPr>
          <p:cNvPr id="6" name="Shape 3"/>
          <p:cNvSpPr/>
          <p:nvPr/>
        </p:nvSpPr>
        <p:spPr>
          <a:xfrm>
            <a:off x="548640" y="1645920"/>
            <a:ext cx="5440680" cy="1371600"/>
          </a:xfrm>
          <a:prstGeom prst="roundRect">
            <a:avLst>
              <a:gd name="adj" fmla="val 5333"/>
            </a:avLst>
          </a:prstGeom>
          <a:solidFill>
            <a:srgbClr val="F2F5F9"/>
          </a:solidFill>
          <a:ln/>
        </p:spPr>
      </p:sp>
      <p:sp>
        <p:nvSpPr>
          <p:cNvPr id="7" name="Text 4"/>
          <p:cNvSpPr/>
          <p:nvPr/>
        </p:nvSpPr>
        <p:spPr>
          <a:xfrm>
            <a:off x="777240" y="1755648"/>
            <a:ext cx="5029200" cy="310896"/>
          </a:xfrm>
          <a:prstGeom prst="rect">
            <a:avLst/>
          </a:prstGeom>
          <a:noFill/>
          <a:ln/>
        </p:spPr>
        <p:txBody>
          <a:bodyPr wrap="square" lIns="0" tIns="0" rIns="0" bIns="0" rtlCol="0" anchor="ctr"/>
          <a:lstStyle/>
          <a:p>
            <a:pPr marL="0" indent="0">
              <a:buNone/>
            </a:pPr>
            <a:r>
              <a:rPr lang="en-US" sz="1450" b="1" dirty="0">
                <a:solidFill>
                  <a:srgbClr val="16263F"/>
                </a:solidFill>
                <a:latin typeface="Calibri" pitchFamily="34" charset="0"/>
                <a:ea typeface="Calibri" pitchFamily="34" charset="-122"/>
                <a:cs typeface="Calibri" pitchFamily="34" charset="-120"/>
              </a:rPr>
              <a:t>Label encoding</a:t>
            </a:r>
            <a:endParaRPr lang="en-US" sz="1450" dirty="0"/>
          </a:p>
        </p:txBody>
      </p:sp>
      <p:sp>
        <p:nvSpPr>
          <p:cNvPr id="8" name="Text 5"/>
          <p:cNvSpPr/>
          <p:nvPr/>
        </p:nvSpPr>
        <p:spPr>
          <a:xfrm>
            <a:off x="777240" y="2084832"/>
            <a:ext cx="5074920" cy="548640"/>
          </a:xfrm>
          <a:prstGeom prst="rect">
            <a:avLst/>
          </a:prstGeom>
          <a:noFill/>
          <a:ln/>
        </p:spPr>
        <p:txBody>
          <a:bodyPr wrap="square" lIns="0" tIns="0" rIns="0" bIns="0" rtlCol="0" anchor="t"/>
          <a:lstStyle/>
          <a:p>
            <a:pPr marL="0" indent="0">
              <a:lnSpc>
                <a:spcPct val="105000"/>
              </a:lnSpc>
              <a:buNone/>
            </a:pPr>
            <a:r>
              <a:rPr lang="en-US" sz="1100" dirty="0">
                <a:solidFill>
                  <a:srgbClr val="5C6B7A"/>
                </a:solidFill>
                <a:latin typeface="Calibri" pitchFamily="34" charset="0"/>
                <a:ea typeface="Calibri" pitchFamily="34" charset="-122"/>
                <a:cs typeface="Calibri" pitchFamily="34" charset="-120"/>
              </a:rPr>
              <a:t>red→0, green→1, blue→2 — one column. Use only for ORDERED categories (low&lt;med&lt;high).</a:t>
            </a:r>
            <a:endParaRPr lang="en-US" sz="1100" dirty="0"/>
          </a:p>
        </p:txBody>
      </p:sp>
      <p:sp>
        <p:nvSpPr>
          <p:cNvPr id="9" name="Text 6"/>
          <p:cNvSpPr/>
          <p:nvPr/>
        </p:nvSpPr>
        <p:spPr>
          <a:xfrm>
            <a:off x="777240" y="2670048"/>
            <a:ext cx="5029200" cy="274320"/>
          </a:xfrm>
          <a:prstGeom prst="rect">
            <a:avLst/>
          </a:prstGeom>
          <a:noFill/>
          <a:ln/>
        </p:spPr>
        <p:txBody>
          <a:bodyPr wrap="square" lIns="0" tIns="0" rIns="0" bIns="0" rtlCol="0" anchor="ctr"/>
          <a:lstStyle/>
          <a:p>
            <a:pPr marL="0" indent="0">
              <a:buNone/>
            </a:pPr>
            <a:r>
              <a:rPr lang="en-US" sz="1050" i="1" dirty="0">
                <a:solidFill>
                  <a:srgbClr val="B23A24"/>
                </a:solidFill>
                <a:latin typeface="Calibri" pitchFamily="34" charset="0"/>
                <a:ea typeface="Calibri" pitchFamily="34" charset="-122"/>
                <a:cs typeface="Calibri" pitchFamily="34" charset="-120"/>
              </a:rPr>
              <a:t>⚠ implies an order the model will believe</a:t>
            </a:r>
            <a:endParaRPr lang="en-US" sz="1050" dirty="0"/>
          </a:p>
        </p:txBody>
      </p:sp>
      <p:sp>
        <p:nvSpPr>
          <p:cNvPr id="10" name="Shape 7"/>
          <p:cNvSpPr/>
          <p:nvPr/>
        </p:nvSpPr>
        <p:spPr>
          <a:xfrm>
            <a:off x="548640" y="3154680"/>
            <a:ext cx="5440680" cy="1463040"/>
          </a:xfrm>
          <a:prstGeom prst="roundRect">
            <a:avLst>
              <a:gd name="adj" fmla="val 5000"/>
            </a:avLst>
          </a:prstGeom>
          <a:solidFill>
            <a:srgbClr val="F2F5F9"/>
          </a:solidFill>
          <a:ln/>
        </p:spPr>
      </p:sp>
      <p:sp>
        <p:nvSpPr>
          <p:cNvPr id="11" name="Text 8"/>
          <p:cNvSpPr/>
          <p:nvPr/>
        </p:nvSpPr>
        <p:spPr>
          <a:xfrm>
            <a:off x="777240" y="3264408"/>
            <a:ext cx="5029200" cy="310896"/>
          </a:xfrm>
          <a:prstGeom prst="rect">
            <a:avLst/>
          </a:prstGeom>
          <a:noFill/>
          <a:ln/>
        </p:spPr>
        <p:txBody>
          <a:bodyPr wrap="square" lIns="0" tIns="0" rIns="0" bIns="0" rtlCol="0" anchor="ctr"/>
          <a:lstStyle/>
          <a:p>
            <a:pPr marL="0" indent="0">
              <a:buNone/>
            </a:pPr>
            <a:r>
              <a:rPr lang="en-US" sz="1450" b="1" dirty="0">
                <a:solidFill>
                  <a:srgbClr val="16263F"/>
                </a:solidFill>
                <a:latin typeface="Calibri" pitchFamily="34" charset="0"/>
                <a:ea typeface="Calibri" pitchFamily="34" charset="-122"/>
                <a:cs typeface="Calibri" pitchFamily="34" charset="-120"/>
              </a:rPr>
              <a:t>One-hot encoding</a:t>
            </a:r>
            <a:endParaRPr lang="en-US" sz="1450" dirty="0"/>
          </a:p>
        </p:txBody>
      </p:sp>
      <p:sp>
        <p:nvSpPr>
          <p:cNvPr id="12" name="Text 9"/>
          <p:cNvSpPr/>
          <p:nvPr/>
        </p:nvSpPr>
        <p:spPr>
          <a:xfrm>
            <a:off x="777240" y="3593592"/>
            <a:ext cx="5074920" cy="548640"/>
          </a:xfrm>
          <a:prstGeom prst="rect">
            <a:avLst/>
          </a:prstGeom>
          <a:noFill/>
          <a:ln/>
        </p:spPr>
        <p:txBody>
          <a:bodyPr wrap="square" lIns="0" tIns="0" rIns="0" bIns="0" rtlCol="0" anchor="t"/>
          <a:lstStyle/>
          <a:p>
            <a:pPr marL="0" indent="0">
              <a:lnSpc>
                <a:spcPct val="105000"/>
              </a:lnSpc>
              <a:buNone/>
            </a:pPr>
            <a:r>
              <a:rPr lang="en-US" sz="1100" dirty="0">
                <a:solidFill>
                  <a:srgbClr val="5C6B7A"/>
                </a:solidFill>
                <a:latin typeface="Calibri" pitchFamily="34" charset="0"/>
                <a:ea typeface="Calibri" pitchFamily="34" charset="-122"/>
                <a:cs typeface="Calibri" pitchFamily="34" charset="-120"/>
              </a:rPr>
              <a:t>one 0/1 column per category — no false order. The default for UNORDERED categories.</a:t>
            </a:r>
            <a:endParaRPr lang="en-US" sz="1100" dirty="0"/>
          </a:p>
        </p:txBody>
      </p:sp>
      <p:sp>
        <p:nvSpPr>
          <p:cNvPr id="13" name="Text 10"/>
          <p:cNvSpPr/>
          <p:nvPr/>
        </p:nvSpPr>
        <p:spPr>
          <a:xfrm>
            <a:off x="777240" y="4224528"/>
            <a:ext cx="5029200" cy="274320"/>
          </a:xfrm>
          <a:prstGeom prst="rect">
            <a:avLst/>
          </a:prstGeom>
          <a:noFill/>
          <a:ln/>
        </p:spPr>
        <p:txBody>
          <a:bodyPr wrap="square" lIns="0" tIns="0" rIns="0" bIns="0" rtlCol="0" anchor="ctr"/>
          <a:lstStyle/>
          <a:p>
            <a:pPr marL="0" indent="0">
              <a:buNone/>
            </a:pPr>
            <a:r>
              <a:rPr lang="en-US" sz="1050" i="1" dirty="0">
                <a:solidFill>
                  <a:srgbClr val="2E6B43"/>
                </a:solidFill>
                <a:latin typeface="Calibri" pitchFamily="34" charset="0"/>
                <a:ea typeface="Calibri" pitchFamily="34" charset="-122"/>
                <a:cs typeface="Calibri" pitchFamily="34" charset="-120"/>
              </a:rPr>
              <a:t>✓ safe; watch out for too many categories</a:t>
            </a:r>
            <a:endParaRPr lang="en-US" sz="1050" dirty="0"/>
          </a:p>
        </p:txBody>
      </p:sp>
      <p:sp>
        <p:nvSpPr>
          <p:cNvPr id="14" name="Text 11"/>
          <p:cNvSpPr/>
          <p:nvPr/>
        </p:nvSpPr>
        <p:spPr>
          <a:xfrm>
            <a:off x="6263640" y="1645920"/>
            <a:ext cx="5120640" cy="292608"/>
          </a:xfrm>
          <a:prstGeom prst="rect">
            <a:avLst/>
          </a:prstGeom>
          <a:noFill/>
          <a:ln/>
        </p:spPr>
        <p:txBody>
          <a:bodyPr wrap="square" lIns="0" tIns="0" rIns="0" bIns="0" rtlCol="0" anchor="ctr"/>
          <a:lstStyle/>
          <a:p>
            <a:pPr marL="0" indent="0" algn="l">
              <a:buNone/>
            </a:pPr>
            <a:r>
              <a:rPr lang="en-US" sz="1250" b="1" dirty="0">
                <a:solidFill>
                  <a:srgbClr val="16263F"/>
                </a:solidFill>
                <a:latin typeface="Calibri" pitchFamily="34" charset="0"/>
                <a:ea typeface="Calibri" pitchFamily="34" charset="-122"/>
                <a:cs typeface="Calibri" pitchFamily="34" charset="-120"/>
              </a:rPr>
              <a:t>One-hot, visualised</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63640" y="1993392"/>
          <a:ext cx="5376672" cy="1755648"/>
        </p:xfrm>
        <a:graphic>
          <a:graphicData uri="http://schemas.openxmlformats.org/drawingml/2006/table">
            <a:tbl>
              <a:tblPr/>
              <a:tblGrid>
                <a:gridCol w="1481328">
                  <a:extLst>
                    <a:ext uri="{9D8B030D-6E8A-4147-A177-3AD203B41FA5}">
                      <a16:colId xmlns:a16="http://schemas.microsoft.com/office/drawing/2014/main" val="20000"/>
                    </a:ext>
                  </a:extLst>
                </a:gridCol>
                <a:gridCol w="1298448">
                  <a:extLst>
                    <a:ext uri="{9D8B030D-6E8A-4147-A177-3AD203B41FA5}">
                      <a16:colId xmlns:a16="http://schemas.microsoft.com/office/drawing/2014/main" val="20001"/>
                    </a:ext>
                  </a:extLst>
                </a:gridCol>
                <a:gridCol w="1298448">
                  <a:extLst>
                    <a:ext uri="{9D8B030D-6E8A-4147-A177-3AD203B41FA5}">
                      <a16:colId xmlns:a16="http://schemas.microsoft.com/office/drawing/2014/main" val="20002"/>
                    </a:ext>
                  </a:extLst>
                </a:gridCol>
                <a:gridCol w="1298448">
                  <a:extLst>
                    <a:ext uri="{9D8B030D-6E8A-4147-A177-3AD203B41FA5}">
                      <a16:colId xmlns:a16="http://schemas.microsoft.com/office/drawing/2014/main" val="20003"/>
                    </a:ext>
                  </a:extLst>
                </a:gridCol>
              </a:tblGrid>
              <a:tr h="384048">
                <a:tc>
                  <a:txBody>
                    <a:bodyPr/>
                    <a:lstStyle/>
                    <a:p>
                      <a:pPr marL="0" indent="0" algn="ctr">
                        <a:buNone/>
                      </a:pPr>
                      <a:r>
                        <a:rPr lang="en-US" sz="1100" b="1" dirty="0">
                          <a:solidFill>
                            <a:srgbClr val="FFFFFF"/>
                          </a:solidFill>
                        </a:rPr>
                        <a:t>color</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6263F"/>
                    </a:solidFill>
                  </a:tcPr>
                </a:tc>
                <a:tc>
                  <a:txBody>
                    <a:bodyPr/>
                    <a:lstStyle/>
                    <a:p>
                      <a:pPr marL="0" indent="0" algn="ctr">
                        <a:buNone/>
                      </a:pPr>
                      <a:r>
                        <a:rPr lang="en-US" sz="1100" b="1" dirty="0">
                          <a:solidFill>
                            <a:srgbClr val="FFFFFF"/>
                          </a:solidFill>
                        </a:rPr>
                        <a:t>is_red</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6263F"/>
                    </a:solidFill>
                  </a:tcPr>
                </a:tc>
                <a:tc>
                  <a:txBody>
                    <a:bodyPr/>
                    <a:lstStyle/>
                    <a:p>
                      <a:pPr marL="0" indent="0" algn="ctr">
                        <a:buNone/>
                      </a:pPr>
                      <a:r>
                        <a:rPr lang="en-US" sz="1100" b="1" dirty="0">
                          <a:solidFill>
                            <a:srgbClr val="FFFFFF"/>
                          </a:solidFill>
                        </a:rPr>
                        <a:t>is_green</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6263F"/>
                    </a:solidFill>
                  </a:tcPr>
                </a:tc>
                <a:tc>
                  <a:txBody>
                    <a:bodyPr/>
                    <a:lstStyle/>
                    <a:p>
                      <a:pPr marL="0" indent="0" algn="ctr">
                        <a:buNone/>
                      </a:pPr>
                      <a:r>
                        <a:rPr lang="en-US" sz="1100" b="1" dirty="0">
                          <a:solidFill>
                            <a:srgbClr val="FFFFFF"/>
                          </a:solidFill>
                        </a:rPr>
                        <a:t>is_blue</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6263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1B2733"/>
                          </a:solidFill>
                        </a:rPr>
                        <a:t>red</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A6B12"/>
                          </a:solidFill>
                        </a:rPr>
                        <a:t>1</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BF1D8"/>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1B2733"/>
                          </a:solidFill>
                        </a:rPr>
                        <a:t>green</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A6B12"/>
                          </a:solidFill>
                        </a:rPr>
                        <a:t>1</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BF1D8"/>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1B2733"/>
                          </a:solidFill>
                        </a:rPr>
                        <a:t>blue</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rPr>
                        <a:t>0</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A6B12"/>
                          </a:solidFill>
                        </a:rPr>
                        <a:t>1</a:t>
                      </a:r>
                      <a:endParaRPr lang="en-US" sz="1100" dirty="0"/>
                    </a:p>
                  </a:txBody>
                  <a:tcPr marL="25400" marR="254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BF1D8"/>
                    </a:solidFill>
                  </a:tcPr>
                </a:tc>
                <a:extLst>
                  <a:ext uri="{0D108BD9-81ED-4DB2-BD59-A6C34878D82A}">
                    <a16:rowId xmlns:a16="http://schemas.microsoft.com/office/drawing/2014/main" val="10003"/>
                  </a:ext>
                </a:extLst>
              </a:tr>
            </a:tbl>
          </a:graphicData>
        </a:graphic>
      </p:graphicFrame>
      <p:sp>
        <p:nvSpPr>
          <p:cNvPr id="16" name="Shape 12"/>
          <p:cNvSpPr/>
          <p:nvPr/>
        </p:nvSpPr>
        <p:spPr>
          <a:xfrm>
            <a:off x="6263640" y="4041648"/>
            <a:ext cx="5376672" cy="868680"/>
          </a:xfrm>
          <a:prstGeom prst="roundRect">
            <a:avLst>
              <a:gd name="adj" fmla="val 6316"/>
            </a:avLst>
          </a:prstGeom>
          <a:solidFill>
            <a:srgbClr val="0E1B2E"/>
          </a:solidFill>
          <a:ln/>
          <a:effectLst>
            <a:outerShdw blurRad="101600" dist="38100" dir="5400000" algn="bl" rotWithShape="0">
              <a:srgbClr val="000000">
                <a:alpha val="14000"/>
              </a:srgbClr>
            </a:outerShdw>
          </a:effectLst>
        </p:spPr>
      </p:sp>
      <p:sp>
        <p:nvSpPr>
          <p:cNvPr id="17" name="Shape 13"/>
          <p:cNvSpPr/>
          <p:nvPr/>
        </p:nvSpPr>
        <p:spPr>
          <a:xfrm>
            <a:off x="6409944" y="4187952"/>
            <a:ext cx="91440" cy="91440"/>
          </a:xfrm>
          <a:prstGeom prst="ellipse">
            <a:avLst/>
          </a:prstGeom>
          <a:solidFill>
            <a:srgbClr val="FF5F56"/>
          </a:solidFill>
          <a:ln/>
        </p:spPr>
      </p:sp>
      <p:sp>
        <p:nvSpPr>
          <p:cNvPr id="18" name="Shape 14"/>
          <p:cNvSpPr/>
          <p:nvPr/>
        </p:nvSpPr>
        <p:spPr>
          <a:xfrm>
            <a:off x="6556248" y="4187952"/>
            <a:ext cx="91440" cy="91440"/>
          </a:xfrm>
          <a:prstGeom prst="ellipse">
            <a:avLst/>
          </a:prstGeom>
          <a:solidFill>
            <a:srgbClr val="FFBD2E"/>
          </a:solidFill>
          <a:ln/>
        </p:spPr>
      </p:sp>
      <p:sp>
        <p:nvSpPr>
          <p:cNvPr id="19" name="Shape 15"/>
          <p:cNvSpPr/>
          <p:nvPr/>
        </p:nvSpPr>
        <p:spPr>
          <a:xfrm>
            <a:off x="6702552" y="4187952"/>
            <a:ext cx="91440" cy="91440"/>
          </a:xfrm>
          <a:prstGeom prst="ellipse">
            <a:avLst/>
          </a:prstGeom>
          <a:solidFill>
            <a:srgbClr val="27C93F"/>
          </a:solidFill>
          <a:ln/>
        </p:spPr>
      </p:sp>
      <p:sp>
        <p:nvSpPr>
          <p:cNvPr id="20" name="Text 16"/>
          <p:cNvSpPr/>
          <p:nvPr/>
        </p:nvSpPr>
        <p:spPr>
          <a:xfrm>
            <a:off x="6903720" y="4114800"/>
            <a:ext cx="4553712" cy="237744"/>
          </a:xfrm>
          <a:prstGeom prst="rect">
            <a:avLst/>
          </a:prstGeom>
          <a:noFill/>
          <a:ln/>
        </p:spPr>
        <p:txBody>
          <a:bodyPr wrap="square" lIns="0" tIns="0" rIns="0" bIns="0" rtlCol="0" anchor="ctr"/>
          <a:lstStyle/>
          <a:p>
            <a:pPr marL="0" indent="0" algn="l">
              <a:buNone/>
            </a:pPr>
            <a:r>
              <a:rPr lang="en-US" sz="950" dirty="0">
                <a:solidFill>
                  <a:srgbClr val="8FA6BE"/>
                </a:solidFill>
                <a:latin typeface="Courier New" pitchFamily="34" charset="0"/>
                <a:ea typeface="Courier New" pitchFamily="34" charset="-122"/>
                <a:cs typeface="Courier New" pitchFamily="34" charset="-120"/>
              </a:rPr>
              <a:t>encode.py</a:t>
            </a:r>
            <a:endParaRPr lang="en-US" sz="950" dirty="0"/>
          </a:p>
        </p:txBody>
      </p:sp>
      <p:sp>
        <p:nvSpPr>
          <p:cNvPr id="21" name="Text 17"/>
          <p:cNvSpPr/>
          <p:nvPr/>
        </p:nvSpPr>
        <p:spPr>
          <a:xfrm>
            <a:off x="6464808" y="4425696"/>
            <a:ext cx="4974336" cy="338328"/>
          </a:xfrm>
          <a:prstGeom prst="rect">
            <a:avLst/>
          </a:prstGeom>
          <a:noFill/>
          <a:ln/>
        </p:spPr>
        <p:txBody>
          <a:bodyPr wrap="square" lIns="0" tIns="0" rIns="0" bIns="0" rtlCol="0" anchor="t"/>
          <a:lstStyle/>
          <a:p>
            <a:pPr marL="0" indent="0" algn="l">
              <a:lnSpc>
                <a:spcPct val="112000"/>
              </a:lnSpc>
              <a:buNone/>
            </a:pPr>
            <a:r>
              <a:rPr lang="en-US" sz="1100" dirty="0">
                <a:solidFill>
                  <a:srgbClr val="7FA8C9"/>
                </a:solidFill>
                <a:latin typeface="Courier New" pitchFamily="34" charset="0"/>
                <a:ea typeface="Courier New" pitchFamily="34" charset="-122"/>
                <a:cs typeface="Courier New" pitchFamily="34" charset="-120"/>
              </a:rPr>
              <a:t>pd.get_dummies(df, columns=['color'])  # one-hot</a:t>
            </a:r>
            <a:endParaRPr lang="en-US" sz="1100" dirty="0"/>
          </a:p>
          <a:p>
            <a:pPr marL="0" indent="0" algn="l">
              <a:lnSpc>
                <a:spcPct val="112000"/>
              </a:lnSpc>
              <a:buNone/>
            </a:pPr>
            <a:r>
              <a:rPr lang="en-US" sz="1050" dirty="0">
                <a:solidFill>
                  <a:srgbClr val="7FA8C9"/>
                </a:solidFill>
                <a:latin typeface="Courier New" pitchFamily="34" charset="0"/>
                <a:ea typeface="Courier New" pitchFamily="34" charset="-122"/>
                <a:cs typeface="Courier New" pitchFamily="34" charset="-120"/>
              </a:rPr>
              <a:t># or sklearn: OneHotEncoder / LabelEncoder</a:t>
            </a:r>
            <a:endParaRPr lang="en-US" sz="1100" dirty="0"/>
          </a:p>
        </p:txBody>
      </p:sp>
      <p:sp>
        <p:nvSpPr>
          <p:cNvPr id="22" name="Shape 18"/>
          <p:cNvSpPr/>
          <p:nvPr/>
        </p:nvSpPr>
        <p:spPr>
          <a:xfrm>
            <a:off x="548640" y="5138928"/>
            <a:ext cx="11091672" cy="566928"/>
          </a:xfrm>
          <a:prstGeom prst="roundRect">
            <a:avLst>
              <a:gd name="adj" fmla="val 11290"/>
            </a:avLst>
          </a:prstGeom>
          <a:solidFill>
            <a:srgbClr val="FBF1D8"/>
          </a:solidFill>
          <a:ln/>
        </p:spPr>
      </p:sp>
      <p:sp>
        <p:nvSpPr>
          <p:cNvPr id="23" name="Shape 19"/>
          <p:cNvSpPr/>
          <p:nvPr/>
        </p:nvSpPr>
        <p:spPr>
          <a:xfrm>
            <a:off x="694944" y="5257800"/>
            <a:ext cx="329184" cy="329184"/>
          </a:xfrm>
          <a:prstGeom prst="ellipse">
            <a:avLst/>
          </a:prstGeom>
          <a:solidFill>
            <a:srgbClr val="F4B942"/>
          </a:solidFill>
          <a:ln/>
        </p:spPr>
      </p:sp>
      <p:pic>
        <p:nvPicPr>
          <p:cNvPr id="24" name="Image 1" descr="ic_flask_navy.png"/>
          <p:cNvPicPr>
            <a:picLocks noChangeAspect="1"/>
          </p:cNvPicPr>
          <p:nvPr/>
        </p:nvPicPr>
        <p:blipFill>
          <a:blip r:embed="rId4"/>
          <a:stretch>
            <a:fillRect/>
          </a:stretch>
        </p:blipFill>
        <p:spPr>
          <a:xfrm>
            <a:off x="777240" y="5340096"/>
            <a:ext cx="164592" cy="164592"/>
          </a:xfrm>
          <a:prstGeom prst="rect">
            <a:avLst/>
          </a:prstGeom>
        </p:spPr>
      </p:pic>
      <p:sp>
        <p:nvSpPr>
          <p:cNvPr id="25" name="Text 20"/>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One-hot encode an unordered column; label-encode an ordered one.</a:t>
            </a:r>
            <a:endParaRPr lang="en-US" sz="1100" dirty="0"/>
          </a:p>
        </p:txBody>
      </p:sp>
      <p:sp>
        <p:nvSpPr>
          <p:cNvPr id="26" name="Text 21"/>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27" name="Text 22"/>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16263F"/>
        </a:solidFill>
        <a:effectLst/>
      </p:bgPr>
    </p:bg>
    <p:spTree>
      <p:nvGrpSpPr>
        <p:cNvPr id="1" name=""/>
        <p:cNvGrpSpPr/>
        <p:nvPr/>
      </p:nvGrpSpPr>
      <p:grpSpPr>
        <a:xfrm>
          <a:off x="0" y="0"/>
          <a:ext cx="0" cy="0"/>
          <a:chOff x="0" y="0"/>
          <a:chExt cx="0" cy="0"/>
        </a:xfrm>
      </p:grpSpPr>
      <p:sp>
        <p:nvSpPr>
          <p:cNvPr id="2" name="Text 0"/>
          <p:cNvSpPr/>
          <p:nvPr/>
        </p:nvSpPr>
        <p:spPr>
          <a:xfrm>
            <a:off x="9509760" y="914400"/>
            <a:ext cx="2286000" cy="4572000"/>
          </a:xfrm>
          <a:prstGeom prst="rect">
            <a:avLst/>
          </a:prstGeom>
          <a:noFill/>
          <a:ln/>
        </p:spPr>
        <p:txBody>
          <a:bodyPr wrap="square" lIns="0" tIns="0" rIns="0" bIns="0" rtlCol="0" anchor="ctr"/>
          <a:lstStyle/>
          <a:p>
            <a:pPr marL="0" indent="0" algn="r">
              <a:buNone/>
            </a:pPr>
            <a:r>
              <a:rPr lang="en-US" sz="24000" b="1" dirty="0">
                <a:solidFill>
                  <a:srgbClr val="1F3656"/>
                </a:solidFill>
                <a:latin typeface="Century Schoolbook" pitchFamily="34" charset="0"/>
                <a:ea typeface="Century Schoolbook" pitchFamily="34" charset="-122"/>
                <a:cs typeface="Century Schoolbook" pitchFamily="34" charset="-120"/>
              </a:rPr>
              <a:t>2</a:t>
            </a:r>
            <a:endParaRPr lang="en-US" sz="24000" dirty="0"/>
          </a:p>
        </p:txBody>
      </p:sp>
      <p:sp>
        <p:nvSpPr>
          <p:cNvPr id="3" name="Shape 1"/>
          <p:cNvSpPr/>
          <p:nvPr/>
        </p:nvSpPr>
        <p:spPr>
          <a:xfrm>
            <a:off x="822960" y="1783080"/>
            <a:ext cx="1051560" cy="1051560"/>
          </a:xfrm>
          <a:prstGeom prst="ellipse">
            <a:avLst/>
          </a:prstGeom>
          <a:solidFill>
            <a:srgbClr val="F4B942"/>
          </a:solidFill>
          <a:ln/>
          <a:effectLst>
            <a:outerShdw blurRad="101600" dist="38100" dir="5400000" algn="bl" rotWithShape="0">
              <a:srgbClr val="000000">
                <a:alpha val="14000"/>
              </a:srgbClr>
            </a:outerShdw>
          </a:effectLst>
        </p:spPr>
      </p:sp>
      <p:pic>
        <p:nvPicPr>
          <p:cNvPr id="4" name="Image 0" descr="ic_scale_white.png"/>
          <p:cNvPicPr>
            <a:picLocks noChangeAspect="1"/>
          </p:cNvPicPr>
          <p:nvPr/>
        </p:nvPicPr>
        <p:blipFill>
          <a:blip r:embed="rId3"/>
          <a:stretch>
            <a:fillRect/>
          </a:stretch>
        </p:blipFill>
        <p:spPr>
          <a:xfrm>
            <a:off x="1085850" y="2045970"/>
            <a:ext cx="525780" cy="525780"/>
          </a:xfrm>
          <a:prstGeom prst="rect">
            <a:avLst/>
          </a:prstGeom>
        </p:spPr>
      </p:pic>
      <p:sp>
        <p:nvSpPr>
          <p:cNvPr id="5" name="Text 2"/>
          <p:cNvSpPr/>
          <p:nvPr/>
        </p:nvSpPr>
        <p:spPr>
          <a:xfrm>
            <a:off x="2148840" y="1847088"/>
            <a:ext cx="7315200" cy="365760"/>
          </a:xfrm>
          <a:prstGeom prst="rect">
            <a:avLst/>
          </a:prstGeom>
          <a:noFill/>
          <a:ln/>
        </p:spPr>
        <p:txBody>
          <a:bodyPr wrap="square" lIns="0" tIns="0" rIns="0" bIns="0" rtlCol="0" anchor="ctr"/>
          <a:lstStyle/>
          <a:p>
            <a:pPr marL="0" indent="0" algn="l">
              <a:buNone/>
            </a:pPr>
            <a:r>
              <a:rPr lang="en-US" sz="1400" b="1" kern="0" spc="300" dirty="0">
                <a:solidFill>
                  <a:srgbClr val="F4B942"/>
                </a:solidFill>
                <a:latin typeface="Calibri" pitchFamily="34" charset="0"/>
                <a:ea typeface="Calibri" pitchFamily="34" charset="-122"/>
                <a:cs typeface="Calibri" pitchFamily="34" charset="-120"/>
              </a:rPr>
              <a:t>PUT IT ON ONE SCALE</a:t>
            </a:r>
            <a:endParaRPr lang="en-US" sz="1400" dirty="0"/>
          </a:p>
        </p:txBody>
      </p:sp>
      <p:sp>
        <p:nvSpPr>
          <p:cNvPr id="6" name="Text 3"/>
          <p:cNvSpPr/>
          <p:nvPr/>
        </p:nvSpPr>
        <p:spPr>
          <a:xfrm>
            <a:off x="2121408" y="2231136"/>
            <a:ext cx="6949440" cy="1371600"/>
          </a:xfrm>
          <a:prstGeom prst="rect">
            <a:avLst/>
          </a:prstGeom>
          <a:noFill/>
          <a:ln/>
        </p:spPr>
        <p:txBody>
          <a:bodyPr wrap="square" lIns="0" tIns="0" rIns="0" bIns="0" rtlCol="0" anchor="t"/>
          <a:lstStyle/>
          <a:p>
            <a:pPr marL="0" indent="0" algn="l">
              <a:buNone/>
            </a:pPr>
            <a:r>
              <a:rPr lang="en-US" sz="3800" b="1" dirty="0">
                <a:solidFill>
                  <a:srgbClr val="FFFFFF"/>
                </a:solidFill>
                <a:latin typeface="Century Schoolbook" pitchFamily="34" charset="0"/>
                <a:ea typeface="Century Schoolbook" pitchFamily="34" charset="-122"/>
                <a:cs typeface="Century Schoolbook" pitchFamily="34" charset="-120"/>
              </a:rPr>
              <a:t>Scaling, engineering &amp; pipelines</a:t>
            </a:r>
            <a:endParaRPr lang="en-US" sz="3800" dirty="0"/>
          </a:p>
        </p:txBody>
      </p:sp>
      <p:sp>
        <p:nvSpPr>
          <p:cNvPr id="7" name="Text 4"/>
          <p:cNvSpPr/>
          <p:nvPr/>
        </p:nvSpPr>
        <p:spPr>
          <a:xfrm>
            <a:off x="2148840" y="4160520"/>
            <a:ext cx="6583680" cy="1097280"/>
          </a:xfrm>
          <a:prstGeom prst="rect">
            <a:avLst/>
          </a:prstGeom>
          <a:noFill/>
          <a:ln/>
        </p:spPr>
        <p:txBody>
          <a:bodyPr wrap="square" lIns="0" tIns="0" rIns="0" bIns="0" rtlCol="0" anchor="t"/>
          <a:lstStyle/>
          <a:p>
            <a:pPr marL="0" indent="0" algn="l">
              <a:lnSpc>
                <a:spcPct val="110000"/>
              </a:lnSpc>
              <a:buNone/>
            </a:pPr>
            <a:r>
              <a:rPr lang="en-US" sz="1600" dirty="0">
                <a:solidFill>
                  <a:srgbClr val="AFC2D6"/>
                </a:solidFill>
                <a:latin typeface="Calibri" pitchFamily="34" charset="0"/>
                <a:ea typeface="Calibri" pitchFamily="34" charset="-122"/>
                <a:cs typeface="Calibri" pitchFamily="34" charset="-120"/>
              </a:rPr>
              <a:t>Rescale features so none dominates, craft better inputs, and wire it all up without leaking test data.</a:t>
            </a:r>
            <a:endParaRPr lang="en-US" sz="1600" dirty="0"/>
          </a:p>
        </p:txBody>
      </p:sp>
      <p:sp>
        <p:nvSpPr>
          <p:cNvPr id="8" name="Text 5"/>
          <p:cNvSpPr/>
          <p:nvPr/>
        </p:nvSpPr>
        <p:spPr>
          <a:xfrm>
            <a:off x="822960" y="6263640"/>
            <a:ext cx="8229600" cy="274320"/>
          </a:xfrm>
          <a:prstGeom prst="rect">
            <a:avLst/>
          </a:prstGeom>
          <a:noFill/>
          <a:ln/>
        </p:spPr>
        <p:txBody>
          <a:bodyPr wrap="square" lIns="0" tIns="0" rIns="0" bIns="0" rtlCol="0" anchor="ctr"/>
          <a:lstStyle/>
          <a:p>
            <a:pPr marL="0" indent="0" algn="l">
              <a:buNone/>
            </a:pPr>
            <a:r>
              <a:rPr lang="en-US" sz="1050" dirty="0">
                <a:solidFill>
                  <a:srgbClr val="6E83A0"/>
                </a:solidFill>
                <a:latin typeface="Calibri" pitchFamily="34" charset="0"/>
                <a:ea typeface="Calibri" pitchFamily="34" charset="-122"/>
                <a:cs typeface="Calibri" pitchFamily="34" charset="-120"/>
              </a:rPr>
              <a:t>Data Cleaning · Part 2 · Phase C  ·  02 / 06</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scale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ONE COMMON SCALE</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Feature scaling</a:t>
            </a:r>
            <a:endParaRPr lang="en-US" sz="2700" dirty="0"/>
          </a:p>
        </p:txBody>
      </p:sp>
      <p:sp>
        <p:nvSpPr>
          <p:cNvPr id="6" name="Shape 3"/>
          <p:cNvSpPr/>
          <p:nvPr/>
        </p:nvSpPr>
        <p:spPr>
          <a:xfrm>
            <a:off x="548640" y="1664208"/>
            <a:ext cx="5486400" cy="1371600"/>
          </a:xfrm>
          <a:prstGeom prst="roundRect">
            <a:avLst>
              <a:gd name="adj" fmla="val 5333"/>
            </a:avLst>
          </a:prstGeom>
          <a:solidFill>
            <a:srgbClr val="F2F5F9"/>
          </a:solidFill>
          <a:ln/>
        </p:spPr>
      </p:sp>
      <p:sp>
        <p:nvSpPr>
          <p:cNvPr id="7" name="Text 4"/>
          <p:cNvSpPr/>
          <p:nvPr/>
        </p:nvSpPr>
        <p:spPr>
          <a:xfrm>
            <a:off x="777240" y="1792224"/>
            <a:ext cx="5029200" cy="310896"/>
          </a:xfrm>
          <a:prstGeom prst="rect">
            <a:avLst/>
          </a:prstGeom>
          <a:noFill/>
          <a:ln/>
        </p:spPr>
        <p:txBody>
          <a:bodyPr wrap="square" lIns="0" tIns="0" rIns="0" bIns="0" rtlCol="0" anchor="ctr"/>
          <a:lstStyle/>
          <a:p>
            <a:pPr marL="0" indent="0">
              <a:buNone/>
            </a:pPr>
            <a:r>
              <a:rPr lang="en-US" sz="1400" b="1" dirty="0">
                <a:solidFill>
                  <a:srgbClr val="16263F"/>
                </a:solidFill>
                <a:latin typeface="Calibri" pitchFamily="34" charset="0"/>
                <a:ea typeface="Calibri" pitchFamily="34" charset="-122"/>
                <a:cs typeface="Calibri" pitchFamily="34" charset="-120"/>
              </a:rPr>
              <a:t>Normalisation (Min-Max)</a:t>
            </a:r>
            <a:endParaRPr lang="en-US" sz="1400" dirty="0"/>
          </a:p>
        </p:txBody>
      </p:sp>
      <p:sp>
        <p:nvSpPr>
          <p:cNvPr id="8" name="Text 5"/>
          <p:cNvSpPr/>
          <p:nvPr/>
        </p:nvSpPr>
        <p:spPr>
          <a:xfrm>
            <a:off x="777240" y="2103120"/>
            <a:ext cx="5029200" cy="274320"/>
          </a:xfrm>
          <a:prstGeom prst="rect">
            <a:avLst/>
          </a:prstGeom>
          <a:noFill/>
          <a:ln/>
        </p:spPr>
        <p:txBody>
          <a:bodyPr wrap="square" lIns="0" tIns="0" rIns="0" bIns="0" rtlCol="0" anchor="ctr"/>
          <a:lstStyle/>
          <a:p>
            <a:pPr marL="0" indent="0">
              <a:buNone/>
            </a:pPr>
            <a:r>
              <a:rPr lang="en-US" sz="1150" dirty="0">
                <a:solidFill>
                  <a:srgbClr val="5C6B7A"/>
                </a:solidFill>
                <a:latin typeface="Calibri" pitchFamily="34" charset="0"/>
                <a:ea typeface="Calibri" pitchFamily="34" charset="-122"/>
                <a:cs typeface="Calibri" pitchFamily="34" charset="-120"/>
              </a:rPr>
              <a:t>rescales to a fixed [0, 1] range</a:t>
            </a:r>
            <a:endParaRPr lang="en-US" sz="1150" dirty="0"/>
          </a:p>
        </p:txBody>
      </p:sp>
      <p:sp>
        <p:nvSpPr>
          <p:cNvPr id="9" name="Shape 6"/>
          <p:cNvSpPr/>
          <p:nvPr/>
        </p:nvSpPr>
        <p:spPr>
          <a:xfrm>
            <a:off x="777240" y="2414016"/>
            <a:ext cx="2743200" cy="457200"/>
          </a:xfrm>
          <a:prstGeom prst="roundRect">
            <a:avLst>
              <a:gd name="adj" fmla="val 10000"/>
            </a:avLst>
          </a:prstGeom>
          <a:solidFill>
            <a:srgbClr val="16263F"/>
          </a:solidFill>
          <a:ln/>
        </p:spPr>
      </p:sp>
      <p:sp>
        <p:nvSpPr>
          <p:cNvPr id="10" name="Text 7"/>
          <p:cNvSpPr/>
          <p:nvPr/>
        </p:nvSpPr>
        <p:spPr>
          <a:xfrm>
            <a:off x="777240" y="2414016"/>
            <a:ext cx="2743200" cy="457200"/>
          </a:xfrm>
          <a:prstGeom prst="rect">
            <a:avLst/>
          </a:prstGeom>
          <a:noFill/>
          <a:ln/>
        </p:spPr>
        <p:txBody>
          <a:bodyPr wrap="square" lIns="0" tIns="0" rIns="0" bIns="0" rtlCol="0" anchor="ctr"/>
          <a:lstStyle/>
          <a:p>
            <a:pPr marL="0" indent="0" algn="ctr">
              <a:buNone/>
            </a:pPr>
            <a:r>
              <a:rPr lang="en-US" sz="1300" b="1" dirty="0">
                <a:solidFill>
                  <a:srgbClr val="F4B942"/>
                </a:solidFill>
                <a:latin typeface="Cambria" pitchFamily="34" charset="0"/>
                <a:ea typeface="Cambria" pitchFamily="34" charset="-122"/>
                <a:cs typeface="Cambria" pitchFamily="34" charset="-120"/>
              </a:rPr>
              <a:t>(x − min) / (max − min)</a:t>
            </a:r>
            <a:endParaRPr lang="en-US" sz="1300" dirty="0"/>
          </a:p>
        </p:txBody>
      </p:sp>
      <p:sp>
        <p:nvSpPr>
          <p:cNvPr id="11" name="Text 8"/>
          <p:cNvSpPr/>
          <p:nvPr/>
        </p:nvSpPr>
        <p:spPr>
          <a:xfrm>
            <a:off x="3657600" y="2414016"/>
            <a:ext cx="2240280" cy="457200"/>
          </a:xfrm>
          <a:prstGeom prst="rect">
            <a:avLst/>
          </a:prstGeom>
          <a:noFill/>
          <a:ln/>
        </p:spPr>
        <p:txBody>
          <a:bodyPr wrap="square" lIns="0" tIns="0" rIns="0" bIns="0" rtlCol="0" anchor="ctr"/>
          <a:lstStyle/>
          <a:p>
            <a:pPr marL="0" indent="0" algn="l">
              <a:lnSpc>
                <a:spcPct val="100000"/>
              </a:lnSpc>
              <a:buNone/>
            </a:pPr>
            <a:r>
              <a:rPr lang="en-US" sz="1000" i="1" dirty="0">
                <a:solidFill>
                  <a:srgbClr val="2D6A9F"/>
                </a:solidFill>
                <a:latin typeface="Calibri" pitchFamily="34" charset="0"/>
                <a:ea typeface="Calibri" pitchFamily="34" charset="-122"/>
                <a:cs typeface="Calibri" pitchFamily="34" charset="-120"/>
              </a:rPr>
              <a:t>good for bounded data, images</a:t>
            </a:r>
            <a:endParaRPr lang="en-US" sz="1000" dirty="0"/>
          </a:p>
        </p:txBody>
      </p:sp>
      <p:sp>
        <p:nvSpPr>
          <p:cNvPr id="12" name="Shape 9"/>
          <p:cNvSpPr/>
          <p:nvPr/>
        </p:nvSpPr>
        <p:spPr>
          <a:xfrm>
            <a:off x="548640" y="3172968"/>
            <a:ext cx="5486400" cy="1371600"/>
          </a:xfrm>
          <a:prstGeom prst="roundRect">
            <a:avLst>
              <a:gd name="adj" fmla="val 5333"/>
            </a:avLst>
          </a:prstGeom>
          <a:solidFill>
            <a:srgbClr val="F2F5F9"/>
          </a:solidFill>
          <a:ln/>
        </p:spPr>
      </p:sp>
      <p:sp>
        <p:nvSpPr>
          <p:cNvPr id="13" name="Text 10"/>
          <p:cNvSpPr/>
          <p:nvPr/>
        </p:nvSpPr>
        <p:spPr>
          <a:xfrm>
            <a:off x="777240" y="3300984"/>
            <a:ext cx="5029200" cy="310896"/>
          </a:xfrm>
          <a:prstGeom prst="rect">
            <a:avLst/>
          </a:prstGeom>
          <a:noFill/>
          <a:ln/>
        </p:spPr>
        <p:txBody>
          <a:bodyPr wrap="square" lIns="0" tIns="0" rIns="0" bIns="0" rtlCol="0" anchor="ctr"/>
          <a:lstStyle/>
          <a:p>
            <a:pPr marL="0" indent="0">
              <a:buNone/>
            </a:pPr>
            <a:r>
              <a:rPr lang="en-US" sz="1400" b="1" dirty="0">
                <a:solidFill>
                  <a:srgbClr val="16263F"/>
                </a:solidFill>
                <a:latin typeface="Calibri" pitchFamily="34" charset="0"/>
                <a:ea typeface="Calibri" pitchFamily="34" charset="-122"/>
                <a:cs typeface="Calibri" pitchFamily="34" charset="-120"/>
              </a:rPr>
              <a:t>Standardisation (Z-score)</a:t>
            </a:r>
            <a:endParaRPr lang="en-US" sz="1400" dirty="0"/>
          </a:p>
        </p:txBody>
      </p:sp>
      <p:sp>
        <p:nvSpPr>
          <p:cNvPr id="14" name="Text 11"/>
          <p:cNvSpPr/>
          <p:nvPr/>
        </p:nvSpPr>
        <p:spPr>
          <a:xfrm>
            <a:off x="777240" y="3611880"/>
            <a:ext cx="5029200" cy="274320"/>
          </a:xfrm>
          <a:prstGeom prst="rect">
            <a:avLst/>
          </a:prstGeom>
          <a:noFill/>
          <a:ln/>
        </p:spPr>
        <p:txBody>
          <a:bodyPr wrap="square" lIns="0" tIns="0" rIns="0" bIns="0" rtlCol="0" anchor="ctr"/>
          <a:lstStyle/>
          <a:p>
            <a:pPr marL="0" indent="0">
              <a:buNone/>
            </a:pPr>
            <a:r>
              <a:rPr lang="en-US" sz="1150" dirty="0">
                <a:solidFill>
                  <a:srgbClr val="5C6B7A"/>
                </a:solidFill>
                <a:latin typeface="Calibri" pitchFamily="34" charset="0"/>
                <a:ea typeface="Calibri" pitchFamily="34" charset="-122"/>
                <a:cs typeface="Calibri" pitchFamily="34" charset="-120"/>
              </a:rPr>
              <a:t>centres at mean 0, std 1</a:t>
            </a:r>
            <a:endParaRPr lang="en-US" sz="1150" dirty="0"/>
          </a:p>
        </p:txBody>
      </p:sp>
      <p:sp>
        <p:nvSpPr>
          <p:cNvPr id="15" name="Shape 12"/>
          <p:cNvSpPr/>
          <p:nvPr/>
        </p:nvSpPr>
        <p:spPr>
          <a:xfrm>
            <a:off x="777240" y="3922776"/>
            <a:ext cx="2743200" cy="457200"/>
          </a:xfrm>
          <a:prstGeom prst="roundRect">
            <a:avLst>
              <a:gd name="adj" fmla="val 10000"/>
            </a:avLst>
          </a:prstGeom>
          <a:solidFill>
            <a:srgbClr val="16263F"/>
          </a:solidFill>
          <a:ln/>
        </p:spPr>
      </p:sp>
      <p:sp>
        <p:nvSpPr>
          <p:cNvPr id="16" name="Text 13"/>
          <p:cNvSpPr/>
          <p:nvPr/>
        </p:nvSpPr>
        <p:spPr>
          <a:xfrm>
            <a:off x="777240" y="3922776"/>
            <a:ext cx="2743200" cy="457200"/>
          </a:xfrm>
          <a:prstGeom prst="rect">
            <a:avLst/>
          </a:prstGeom>
          <a:noFill/>
          <a:ln/>
        </p:spPr>
        <p:txBody>
          <a:bodyPr wrap="square" lIns="0" tIns="0" rIns="0" bIns="0" rtlCol="0" anchor="ctr"/>
          <a:lstStyle/>
          <a:p>
            <a:pPr marL="0" indent="0" algn="ctr">
              <a:buNone/>
            </a:pPr>
            <a:r>
              <a:rPr lang="en-US" sz="1300" b="1" dirty="0">
                <a:solidFill>
                  <a:srgbClr val="F4B942"/>
                </a:solidFill>
                <a:latin typeface="Cambria" pitchFamily="34" charset="0"/>
                <a:ea typeface="Cambria" pitchFamily="34" charset="-122"/>
                <a:cs typeface="Cambria" pitchFamily="34" charset="-120"/>
              </a:rPr>
              <a:t>(x − μ) / σ</a:t>
            </a:r>
            <a:endParaRPr lang="en-US" sz="1300" dirty="0"/>
          </a:p>
        </p:txBody>
      </p:sp>
      <p:sp>
        <p:nvSpPr>
          <p:cNvPr id="17" name="Text 14"/>
          <p:cNvSpPr/>
          <p:nvPr/>
        </p:nvSpPr>
        <p:spPr>
          <a:xfrm>
            <a:off x="3657600" y="3922776"/>
            <a:ext cx="2240280" cy="457200"/>
          </a:xfrm>
          <a:prstGeom prst="rect">
            <a:avLst/>
          </a:prstGeom>
          <a:noFill/>
          <a:ln/>
        </p:spPr>
        <p:txBody>
          <a:bodyPr wrap="square" lIns="0" tIns="0" rIns="0" bIns="0" rtlCol="0" anchor="ctr"/>
          <a:lstStyle/>
          <a:p>
            <a:pPr marL="0" indent="0" algn="l">
              <a:lnSpc>
                <a:spcPct val="100000"/>
              </a:lnSpc>
              <a:buNone/>
            </a:pPr>
            <a:r>
              <a:rPr lang="en-US" sz="1000" i="1" dirty="0">
                <a:solidFill>
                  <a:srgbClr val="2D6A9F"/>
                </a:solidFill>
                <a:latin typeface="Calibri" pitchFamily="34" charset="0"/>
                <a:ea typeface="Calibri" pitchFamily="34" charset="-122"/>
                <a:cs typeface="Calibri" pitchFamily="34" charset="-120"/>
              </a:rPr>
              <a:t>the common default; robust to ranges</a:t>
            </a:r>
            <a:endParaRPr lang="en-US" sz="1000" dirty="0"/>
          </a:p>
        </p:txBody>
      </p:sp>
      <p:sp>
        <p:nvSpPr>
          <p:cNvPr id="18" name="Shape 15"/>
          <p:cNvSpPr/>
          <p:nvPr/>
        </p:nvSpPr>
        <p:spPr>
          <a:xfrm>
            <a:off x="6199632" y="1664208"/>
            <a:ext cx="5440680" cy="3017520"/>
          </a:xfrm>
          <a:prstGeom prst="roundRect">
            <a:avLst>
              <a:gd name="adj" fmla="val 2727"/>
            </a:avLst>
          </a:prstGeom>
          <a:solidFill>
            <a:srgbClr val="16263F"/>
          </a:solidFill>
          <a:ln/>
          <a:effectLst>
            <a:outerShdw blurRad="101600" dist="38100" dir="5400000" algn="bl" rotWithShape="0">
              <a:srgbClr val="000000">
                <a:alpha val="14000"/>
              </a:srgbClr>
            </a:outerShdw>
          </a:effectLst>
        </p:spPr>
      </p:sp>
      <p:sp>
        <p:nvSpPr>
          <p:cNvPr id="19" name="Text 16"/>
          <p:cNvSpPr/>
          <p:nvPr/>
        </p:nvSpPr>
        <p:spPr>
          <a:xfrm>
            <a:off x="6400800" y="1828800"/>
            <a:ext cx="5029200" cy="365760"/>
          </a:xfrm>
          <a:prstGeom prst="rect">
            <a:avLst/>
          </a:prstGeom>
          <a:noFill/>
          <a:ln/>
        </p:spPr>
        <p:txBody>
          <a:bodyPr wrap="square" lIns="0" tIns="0" rIns="0" bIns="0" rtlCol="0" anchor="ctr"/>
          <a:lstStyle/>
          <a:p>
            <a:pPr marL="0" indent="0">
              <a:buNone/>
            </a:pPr>
            <a:r>
              <a:rPr lang="en-US" sz="1450" b="1" dirty="0">
                <a:solidFill>
                  <a:srgbClr val="F4B942"/>
                </a:solidFill>
                <a:latin typeface="Calibri" pitchFamily="34" charset="0"/>
                <a:ea typeface="Calibri" pitchFamily="34" charset="-122"/>
                <a:cs typeface="Calibri" pitchFamily="34" charset="-120"/>
              </a:rPr>
              <a:t>Why scale at all?</a:t>
            </a:r>
            <a:endParaRPr lang="en-US" sz="1450" dirty="0"/>
          </a:p>
        </p:txBody>
      </p:sp>
      <p:sp>
        <p:nvSpPr>
          <p:cNvPr id="20" name="Text 17"/>
          <p:cNvSpPr/>
          <p:nvPr/>
        </p:nvSpPr>
        <p:spPr>
          <a:xfrm>
            <a:off x="6400800" y="2240280"/>
            <a:ext cx="5029200" cy="1371600"/>
          </a:xfrm>
          <a:prstGeom prst="rect">
            <a:avLst/>
          </a:prstGeom>
          <a:noFill/>
          <a:ln/>
        </p:spPr>
        <p:txBody>
          <a:bodyPr wrap="square" lIns="0" tIns="0" rIns="0" bIns="0" rtlCol="0" anchor="t"/>
          <a:lstStyle/>
          <a:p>
            <a:pPr marL="0" indent="0" algn="l">
              <a:lnSpc>
                <a:spcPct val="112000"/>
              </a:lnSpc>
              <a:buNone/>
            </a:pPr>
            <a:r>
              <a:rPr lang="en-US" sz="1250" dirty="0">
                <a:solidFill>
                  <a:srgbClr val="DCE7F2"/>
                </a:solidFill>
                <a:latin typeface="Calibri" pitchFamily="34" charset="0"/>
                <a:ea typeface="Calibri" pitchFamily="34" charset="-122"/>
                <a:cs typeface="Calibri" pitchFamily="34" charset="-120"/>
              </a:rPr>
              <a:t>Without scaling, </a:t>
            </a:r>
            <a:r>
              <a:rPr lang="en-US" sz="1250" b="1" dirty="0">
                <a:solidFill>
                  <a:srgbClr val="FFFFFF"/>
                </a:solidFill>
                <a:latin typeface="Calibri" pitchFamily="34" charset="0"/>
                <a:ea typeface="Calibri" pitchFamily="34" charset="-122"/>
                <a:cs typeface="Calibri" pitchFamily="34" charset="-120"/>
              </a:rPr>
              <a:t>income (0–1,000,000)</a:t>
            </a:r>
            <a:r>
              <a:rPr lang="en-US" sz="1250" dirty="0">
                <a:solidFill>
                  <a:srgbClr val="DCE7F2"/>
                </a:solidFill>
                <a:latin typeface="Calibri" pitchFamily="34" charset="0"/>
                <a:ea typeface="Calibri" pitchFamily="34" charset="-122"/>
                <a:cs typeface="Calibri" pitchFamily="34" charset="-120"/>
              </a:rPr>
              <a:t> dwarfs </a:t>
            </a:r>
            <a:r>
              <a:rPr lang="en-US" sz="1250" b="1" dirty="0">
                <a:solidFill>
                  <a:srgbClr val="FFFFFF"/>
                </a:solidFill>
                <a:latin typeface="Calibri" pitchFamily="34" charset="0"/>
                <a:ea typeface="Calibri" pitchFamily="34" charset="-122"/>
                <a:cs typeface="Calibri" pitchFamily="34" charset="-120"/>
              </a:rPr>
              <a:t>age (0–100)</a:t>
            </a:r>
            <a:r>
              <a:rPr lang="en-US" sz="1250" dirty="0">
                <a:solidFill>
                  <a:srgbClr val="DCE7F2"/>
                </a:solidFill>
                <a:latin typeface="Calibri" pitchFamily="34" charset="0"/>
                <a:ea typeface="Calibri" pitchFamily="34" charset="-122"/>
                <a:cs typeface="Calibri" pitchFamily="34" charset="-120"/>
              </a:rPr>
              <a:t>.</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C7D6E6"/>
                </a:solidFill>
                <a:latin typeface="Calibri" pitchFamily="34" charset="0"/>
                <a:ea typeface="Calibri" pitchFamily="34" charset="-122"/>
                <a:cs typeface="Calibri" pitchFamily="34" charset="-120"/>
              </a:rPr>
              <a:t>Distance- &amp; gradient-based models (KNN, SVM, neural nets, k-means) then treat income as all that matters.</a:t>
            </a:r>
            <a:endParaRPr lang="en-US" sz="1250" dirty="0"/>
          </a:p>
        </p:txBody>
      </p:sp>
      <p:sp>
        <p:nvSpPr>
          <p:cNvPr id="21" name="Text 18"/>
          <p:cNvSpPr/>
          <p:nvPr/>
        </p:nvSpPr>
        <p:spPr>
          <a:xfrm>
            <a:off x="6400800" y="3977640"/>
            <a:ext cx="5074920" cy="640080"/>
          </a:xfrm>
          <a:prstGeom prst="rect">
            <a:avLst/>
          </a:prstGeom>
          <a:noFill/>
          <a:ln/>
        </p:spPr>
        <p:txBody>
          <a:bodyPr wrap="square" lIns="0" tIns="0" rIns="0" bIns="0" rtlCol="0" anchor="t"/>
          <a:lstStyle/>
          <a:p>
            <a:pPr marL="0" indent="0">
              <a:lnSpc>
                <a:spcPct val="108000"/>
              </a:lnSpc>
              <a:buNone/>
            </a:pPr>
            <a:r>
              <a:rPr lang="en-US" sz="1150" i="1" dirty="0">
                <a:solidFill>
                  <a:srgbClr val="AFC2D6"/>
                </a:solidFill>
                <a:latin typeface="Calibri" pitchFamily="34" charset="0"/>
                <a:ea typeface="Calibri" pitchFamily="34" charset="-122"/>
                <a:cs typeface="Calibri" pitchFamily="34" charset="-120"/>
              </a:rPr>
              <a:t>Tree-based models (random forest, XGBoost) don't need it — but it never hurts.</a:t>
            </a:r>
            <a:endParaRPr lang="en-US" sz="1150" dirty="0"/>
          </a:p>
        </p:txBody>
      </p:sp>
      <p:sp>
        <p:nvSpPr>
          <p:cNvPr id="22" name="Shape 19"/>
          <p:cNvSpPr/>
          <p:nvPr/>
        </p:nvSpPr>
        <p:spPr>
          <a:xfrm>
            <a:off x="548640" y="5138928"/>
            <a:ext cx="11091672" cy="566928"/>
          </a:xfrm>
          <a:prstGeom prst="roundRect">
            <a:avLst>
              <a:gd name="adj" fmla="val 11290"/>
            </a:avLst>
          </a:prstGeom>
          <a:solidFill>
            <a:srgbClr val="FBF1D8"/>
          </a:solidFill>
          <a:ln/>
        </p:spPr>
      </p:sp>
      <p:sp>
        <p:nvSpPr>
          <p:cNvPr id="23" name="Shape 20"/>
          <p:cNvSpPr/>
          <p:nvPr/>
        </p:nvSpPr>
        <p:spPr>
          <a:xfrm>
            <a:off x="694944" y="5257800"/>
            <a:ext cx="329184" cy="329184"/>
          </a:xfrm>
          <a:prstGeom prst="ellipse">
            <a:avLst/>
          </a:prstGeom>
          <a:solidFill>
            <a:srgbClr val="F4B942"/>
          </a:solidFill>
          <a:ln/>
        </p:spPr>
      </p:sp>
      <p:pic>
        <p:nvPicPr>
          <p:cNvPr id="24" name="Image 1" descr="ic_flask_navy.png"/>
          <p:cNvPicPr>
            <a:picLocks noChangeAspect="1"/>
          </p:cNvPicPr>
          <p:nvPr/>
        </p:nvPicPr>
        <p:blipFill>
          <a:blip r:embed="rId4"/>
          <a:stretch>
            <a:fillRect/>
          </a:stretch>
        </p:blipFill>
        <p:spPr>
          <a:xfrm>
            <a:off x="777240" y="5340096"/>
            <a:ext cx="164592" cy="164592"/>
          </a:xfrm>
          <a:prstGeom prst="rect">
            <a:avLst/>
          </a:prstGeom>
        </p:spPr>
      </p:pic>
      <p:sp>
        <p:nvSpPr>
          <p:cNvPr id="25" name="Text 21"/>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Standardise and min-max scale a numeric column; compare the before/after ranges.</a:t>
            </a:r>
            <a:endParaRPr lang="en-US" sz="1100" dirty="0"/>
          </a:p>
        </p:txBody>
      </p:sp>
      <p:sp>
        <p:nvSpPr>
          <p:cNvPr id="26" name="Text 22"/>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27" name="Text 23"/>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48B12-C9C9-D56F-5F2B-564E863B9DFA}"/>
              </a:ext>
            </a:extLst>
          </p:cNvPr>
          <p:cNvSpPr txBox="1"/>
          <p:nvPr/>
        </p:nvSpPr>
        <p:spPr>
          <a:xfrm>
            <a:off x="412376" y="272607"/>
            <a:ext cx="10838330" cy="1403589"/>
          </a:xfrm>
          <a:prstGeom prst="rect">
            <a:avLst/>
          </a:prstGeom>
          <a:noFill/>
        </p:spPr>
        <p:txBody>
          <a:bodyPr wrap="square">
            <a:spAutoFit/>
          </a:bodyPr>
          <a:lstStyle/>
          <a:p>
            <a:pPr algn="l">
              <a:lnSpc>
                <a:spcPts val="2625"/>
              </a:lnSpc>
              <a:buNone/>
            </a:pPr>
            <a:r>
              <a:rPr lang="en-US" b="1" i="0" dirty="0">
                <a:solidFill>
                  <a:srgbClr val="273239"/>
                </a:solidFill>
                <a:effectLst/>
                <a:latin typeface="Source Sans 3"/>
              </a:rPr>
              <a:t>Feature Engineering - Scaling, Normalization and Standardization      </a:t>
            </a:r>
          </a:p>
          <a:p>
            <a:pPr algn="l">
              <a:lnSpc>
                <a:spcPts val="2625"/>
              </a:lnSpc>
              <a:buNone/>
            </a:pPr>
            <a:endParaRPr lang="en-US" b="1" dirty="0">
              <a:solidFill>
                <a:srgbClr val="273239"/>
              </a:solidFill>
              <a:latin typeface="Source Sans 3"/>
            </a:endParaRPr>
          </a:p>
          <a:p>
            <a:pPr>
              <a:lnSpc>
                <a:spcPts val="2625"/>
              </a:lnSpc>
            </a:pPr>
            <a:r>
              <a:rPr lang="en-US" dirty="0"/>
              <a:t> </a:t>
            </a:r>
            <a:r>
              <a:rPr lang="en-US" u="sng" dirty="0">
                <a:hlinkClick r:id="rId2"/>
              </a:rPr>
              <a:t>Feature engineering</a:t>
            </a:r>
            <a:r>
              <a:rPr lang="en-US" dirty="0"/>
              <a:t> is the process of creating, transforming or selecting important features from raw data to improve model performance. These features help the model capture useful patterns and relationships in the data.</a:t>
            </a:r>
            <a:endParaRPr lang="en-US" b="1" i="0" dirty="0">
              <a:solidFill>
                <a:srgbClr val="273239"/>
              </a:solidFill>
              <a:effectLst/>
              <a:latin typeface="Source Sans 3"/>
            </a:endParaRPr>
          </a:p>
        </p:txBody>
      </p:sp>
      <p:pic>
        <p:nvPicPr>
          <p:cNvPr id="5" name="Picture 4">
            <a:extLst>
              <a:ext uri="{FF2B5EF4-FFF2-40B4-BE49-F238E27FC236}">
                <a16:creationId xmlns:a16="http://schemas.microsoft.com/office/drawing/2014/main" id="{8C24B38A-F7EC-6908-B2B5-BDC7FC2F73D6}"/>
              </a:ext>
            </a:extLst>
          </p:cNvPr>
          <p:cNvPicPr>
            <a:picLocks noChangeAspect="1"/>
          </p:cNvPicPr>
          <p:nvPr/>
        </p:nvPicPr>
        <p:blipFill>
          <a:blip r:embed="rId3"/>
          <a:stretch>
            <a:fillRect/>
          </a:stretch>
        </p:blipFill>
        <p:spPr>
          <a:xfrm>
            <a:off x="412376" y="1843647"/>
            <a:ext cx="4595812" cy="3203482"/>
          </a:xfrm>
          <a:prstGeom prst="rect">
            <a:avLst/>
          </a:prstGeom>
        </p:spPr>
      </p:pic>
      <p:sp>
        <p:nvSpPr>
          <p:cNvPr id="7" name="TextBox 6">
            <a:extLst>
              <a:ext uri="{FF2B5EF4-FFF2-40B4-BE49-F238E27FC236}">
                <a16:creationId xmlns:a16="http://schemas.microsoft.com/office/drawing/2014/main" id="{CF246793-D1D6-38A6-36AD-9F47553E3902}"/>
              </a:ext>
            </a:extLst>
          </p:cNvPr>
          <p:cNvSpPr txBox="1"/>
          <p:nvPr/>
        </p:nvSpPr>
        <p:spPr>
          <a:xfrm>
            <a:off x="5289176" y="1684802"/>
            <a:ext cx="6096000" cy="3657411"/>
          </a:xfrm>
          <a:prstGeom prst="rect">
            <a:avLst/>
          </a:prstGeom>
          <a:noFill/>
        </p:spPr>
        <p:txBody>
          <a:bodyPr wrap="square">
            <a:spAutoFit/>
          </a:bodyPr>
          <a:lstStyle/>
          <a:p>
            <a:pPr algn="just" rtl="0" fontAlgn="base">
              <a:spcAft>
                <a:spcPts val="750"/>
              </a:spcAft>
              <a:buNone/>
            </a:pPr>
            <a:r>
              <a:rPr lang="en-US" sz="2000" b="0" i="0" dirty="0">
                <a:solidFill>
                  <a:srgbClr val="273239"/>
                </a:solidFill>
                <a:effectLst/>
                <a:latin typeface="Times New Roman" panose="02020603050405020304" pitchFamily="18" charset="0"/>
                <a:cs typeface="Times New Roman" panose="02020603050405020304" pitchFamily="18" charset="0"/>
              </a:rPr>
              <a:t>It contributes to model building in the following ways:</a:t>
            </a:r>
          </a:p>
          <a:p>
            <a:pPr algn="just" fontAlgn="base">
              <a:spcAft>
                <a:spcPts val="180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Well-designed features help the model to learn complex patterns more effectively.</a:t>
            </a:r>
          </a:p>
          <a:p>
            <a:pPr algn="just" fontAlgn="base">
              <a:spcAft>
                <a:spcPts val="180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Removing noise and irrelevant information improves model prediction accuracy.</a:t>
            </a:r>
          </a:p>
          <a:p>
            <a:pPr algn="just" fontAlgn="base">
              <a:spcAft>
                <a:spcPts val="180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Focusing on meaningful features helps the model to generalize better and reduces overfitting.</a:t>
            </a:r>
          </a:p>
          <a:p>
            <a:pPr algn="just" fontAlgn="base">
              <a:spcAft>
                <a:spcPts val="180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Clear and informative features make the model easier to understand and interpret.</a:t>
            </a:r>
          </a:p>
        </p:txBody>
      </p:sp>
    </p:spTree>
    <p:extLst>
      <p:ext uri="{BB962C8B-B14F-4D97-AF65-F5344CB8AC3E}">
        <p14:creationId xmlns:p14="http://schemas.microsoft.com/office/powerpoint/2010/main" val="2317677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EEEE80-1F35-6461-805C-4CDD6794864F}"/>
              </a:ext>
            </a:extLst>
          </p:cNvPr>
          <p:cNvPicPr>
            <a:picLocks noChangeAspect="1"/>
          </p:cNvPicPr>
          <p:nvPr/>
        </p:nvPicPr>
        <p:blipFill>
          <a:blip r:embed="rId2"/>
          <a:stretch>
            <a:fillRect/>
          </a:stretch>
        </p:blipFill>
        <p:spPr>
          <a:xfrm>
            <a:off x="672354" y="605545"/>
            <a:ext cx="10524564" cy="5646909"/>
          </a:xfrm>
          <a:prstGeom prst="rect">
            <a:avLst/>
          </a:prstGeom>
        </p:spPr>
      </p:pic>
    </p:spTree>
    <p:extLst>
      <p:ext uri="{BB962C8B-B14F-4D97-AF65-F5344CB8AC3E}">
        <p14:creationId xmlns:p14="http://schemas.microsoft.com/office/powerpoint/2010/main" val="2185712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C7C9D-950B-26EE-1675-D47191D550FE}"/>
              </a:ext>
            </a:extLst>
          </p:cNvPr>
          <p:cNvSpPr txBox="1"/>
          <p:nvPr/>
        </p:nvSpPr>
        <p:spPr>
          <a:xfrm>
            <a:off x="304799" y="379735"/>
            <a:ext cx="11295529" cy="1797287"/>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2. Min-Max Scaling</a:t>
            </a:r>
          </a:p>
          <a:p>
            <a:pPr algn="l" rtl="0" fontAlgn="base">
              <a:spcAft>
                <a:spcPts val="750"/>
              </a:spcAft>
              <a:buNone/>
            </a:pPr>
            <a:r>
              <a:rPr lang="en-US" b="0" i="0" dirty="0">
                <a:solidFill>
                  <a:srgbClr val="273239"/>
                </a:solidFill>
                <a:effectLst/>
                <a:latin typeface="Nunito" pitchFamily="2" charset="0"/>
              </a:rPr>
              <a:t>Min-Max Scaling rescales features by subtracting the minimum value and dividing by the difference between the maximum and minimum values. This usually maps feature values to the range 0 to 1 while preserving the original distribution.</a:t>
            </a:r>
          </a:p>
          <a:p>
            <a:pPr algn="l" fontAlgn="base">
              <a:lnSpc>
                <a:spcPts val="2100"/>
              </a:lnSpc>
              <a:spcBef>
                <a:spcPts val="1800"/>
              </a:spcBef>
              <a:spcAft>
                <a:spcPts val="1800"/>
              </a:spcAft>
              <a:buNone/>
            </a:pPr>
            <a:r>
              <a:rPr lang="en-US" b="1" i="0" dirty="0">
                <a:solidFill>
                  <a:srgbClr val="273239"/>
                </a:solidFill>
                <a:effectLst/>
                <a:latin typeface="Nunito" pitchFamily="2" charset="0"/>
              </a:rPr>
              <a:t>Scaling Formula:</a:t>
            </a:r>
          </a:p>
        </p:txBody>
      </p:sp>
      <p:pic>
        <p:nvPicPr>
          <p:cNvPr id="5" name="Picture 4">
            <a:extLst>
              <a:ext uri="{FF2B5EF4-FFF2-40B4-BE49-F238E27FC236}">
                <a16:creationId xmlns:a16="http://schemas.microsoft.com/office/drawing/2014/main" id="{D1FDF56D-1670-5D86-4AB2-74FD9405B3C9}"/>
              </a:ext>
            </a:extLst>
          </p:cNvPr>
          <p:cNvPicPr>
            <a:picLocks noChangeAspect="1"/>
          </p:cNvPicPr>
          <p:nvPr/>
        </p:nvPicPr>
        <p:blipFill>
          <a:blip r:embed="rId2"/>
          <a:stretch>
            <a:fillRect/>
          </a:stretch>
        </p:blipFill>
        <p:spPr>
          <a:xfrm>
            <a:off x="233861" y="2177022"/>
            <a:ext cx="7887383" cy="4223778"/>
          </a:xfrm>
          <a:prstGeom prst="rect">
            <a:avLst/>
          </a:prstGeom>
        </p:spPr>
      </p:pic>
      <p:pic>
        <p:nvPicPr>
          <p:cNvPr id="7" name="Picture 6">
            <a:extLst>
              <a:ext uri="{FF2B5EF4-FFF2-40B4-BE49-F238E27FC236}">
                <a16:creationId xmlns:a16="http://schemas.microsoft.com/office/drawing/2014/main" id="{21C0F64F-D1D0-12C6-334C-04D747554424}"/>
              </a:ext>
            </a:extLst>
          </p:cNvPr>
          <p:cNvPicPr>
            <a:picLocks noChangeAspect="1"/>
          </p:cNvPicPr>
          <p:nvPr/>
        </p:nvPicPr>
        <p:blipFill>
          <a:blip r:embed="rId3"/>
          <a:stretch>
            <a:fillRect/>
          </a:stretch>
        </p:blipFill>
        <p:spPr>
          <a:xfrm>
            <a:off x="7593106" y="1377818"/>
            <a:ext cx="4598894" cy="5022981"/>
          </a:xfrm>
          <a:prstGeom prst="rect">
            <a:avLst/>
          </a:prstGeom>
        </p:spPr>
      </p:pic>
    </p:spTree>
    <p:extLst>
      <p:ext uri="{BB962C8B-B14F-4D97-AF65-F5344CB8AC3E}">
        <p14:creationId xmlns:p14="http://schemas.microsoft.com/office/powerpoint/2010/main" val="2137035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D77ACDA-3CFF-5F98-6749-64427780B4D9}"/>
                  </a:ext>
                </a:extLst>
              </p:cNvPr>
              <p:cNvSpPr txBox="1"/>
              <p:nvPr/>
            </p:nvSpPr>
            <p:spPr>
              <a:xfrm>
                <a:off x="896469" y="448978"/>
                <a:ext cx="11125201" cy="3336811"/>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Z-Score Normalization</a:t>
                </a:r>
              </a:p>
              <a:p>
                <a:pPr algn="l" rtl="0" fontAlgn="base">
                  <a:spcAft>
                    <a:spcPts val="750"/>
                  </a:spcAft>
                  <a:buNone/>
                </a:pPr>
                <a:r>
                  <a:rPr lang="en-US" b="0" i="0" dirty="0">
                    <a:solidFill>
                      <a:srgbClr val="273239"/>
                    </a:solidFill>
                    <a:effectLst/>
                    <a:latin typeface="Nunito" pitchFamily="2" charset="0"/>
                  </a:rPr>
                  <a:t>Z-score normalization, also called standardization, transforms data so that it has a mean (average) of 0 and a standard deviation of 1. This process adjusts data values based on how far they deviate from the mean, measured in units of standard deviation.</a:t>
                </a:r>
              </a:p>
              <a:p>
                <a:pPr algn="l" rtl="0" fontAlgn="base">
                  <a:spcAft>
                    <a:spcPts val="750"/>
                  </a:spcAft>
                  <a:buNone/>
                </a:pPr>
                <a:r>
                  <a:rPr lang="en-US" dirty="0">
                    <a:solidFill>
                      <a:srgbClr val="273239"/>
                    </a:solidFill>
                    <a:latin typeface="Nunito" pitchFamily="2" charset="0"/>
                  </a:rPr>
                  <a:t>		</a:t>
                </a:r>
              </a:p>
              <a:p>
                <a:pPr fontAlgn="base"/>
                <a:r>
                  <a:rPr lang="en-US" dirty="0"/>
                  <a:t>Where,</a:t>
                </a:r>
              </a:p>
              <a:p>
                <a:pPr fontAlgn="base"/>
                <a14:m>
                  <m:oMath xmlns:m="http://schemas.openxmlformats.org/officeDocument/2006/math">
                    <m:d>
                      <m:dPr>
                        <m:ctrlPr>
                          <a:rPr lang="ar-AE"/>
                        </m:ctrlPr>
                      </m:dPr>
                      <m:e>
                        <m:r>
                          <a:rPr lang="ar-AE" i="1"/>
                          <m:t>𝑍</m:t>
                        </m:r>
                      </m:e>
                    </m:d>
                  </m:oMath>
                </a14:m>
                <a:r>
                  <a:rPr lang="en-US" dirty="0"/>
                  <a:t>is the Z-score.</a:t>
                </a:r>
              </a:p>
              <a:p>
                <a:pPr fontAlgn="base"/>
                <a14:m>
                  <m:oMath xmlns:m="http://schemas.openxmlformats.org/officeDocument/2006/math">
                    <m:d>
                      <m:dPr>
                        <m:ctrlPr>
                          <a:rPr lang="ar-AE"/>
                        </m:ctrlPr>
                      </m:dPr>
                      <m:e>
                        <m:r>
                          <a:rPr lang="ar-AE" i="1"/>
                          <m:t>𝑋</m:t>
                        </m:r>
                      </m:e>
                    </m:d>
                  </m:oMath>
                </a14:m>
                <a:r>
                  <a:rPr lang="en-US" dirty="0"/>
                  <a:t>is the value of the data point.</a:t>
                </a:r>
              </a:p>
              <a:p>
                <a:pPr fontAlgn="base"/>
                <a14:m>
                  <m:oMath xmlns:m="http://schemas.openxmlformats.org/officeDocument/2006/math">
                    <m:d>
                      <m:dPr>
                        <m:ctrlPr>
                          <a:rPr lang="ar-AE"/>
                        </m:ctrlPr>
                      </m:dPr>
                      <m:e>
                        <m:r>
                          <a:rPr lang="ar-AE" i="1"/>
                          <m:t>𝜇</m:t>
                        </m:r>
                      </m:e>
                    </m:d>
                  </m:oMath>
                </a14:m>
                <a:r>
                  <a:rPr lang="en-US" dirty="0"/>
                  <a:t>is the mean of the dataset.</a:t>
                </a:r>
              </a:p>
              <a:p>
                <a:pPr fontAlgn="base"/>
                <a14:m>
                  <m:oMath xmlns:m="http://schemas.openxmlformats.org/officeDocument/2006/math">
                    <m:d>
                      <m:dPr>
                        <m:ctrlPr>
                          <a:rPr lang="ar-AE"/>
                        </m:ctrlPr>
                      </m:dPr>
                      <m:e>
                        <m:r>
                          <a:rPr lang="ar-AE" i="1"/>
                          <m:t>𝜎</m:t>
                        </m:r>
                      </m:e>
                    </m:d>
                  </m:oMath>
                </a14:m>
                <a:r>
                  <a:rPr lang="en-US" dirty="0"/>
                  <a:t>is the standard deviation of the dataset.</a:t>
                </a:r>
              </a:p>
              <a:p>
                <a:pPr fontAlgn="base">
                  <a:spcAft>
                    <a:spcPts val="750"/>
                  </a:spcAft>
                </a:pPr>
                <a:endParaRPr lang="en-US" b="0" i="0" dirty="0">
                  <a:solidFill>
                    <a:srgbClr val="273239"/>
                  </a:solidFill>
                  <a:effectLst/>
                  <a:latin typeface="Nunito" pitchFamily="2" charset="0"/>
                </a:endParaRPr>
              </a:p>
            </p:txBody>
          </p:sp>
        </mc:Choice>
        <mc:Fallback>
          <p:sp>
            <p:nvSpPr>
              <p:cNvPr id="3" name="TextBox 2">
                <a:extLst>
                  <a:ext uri="{FF2B5EF4-FFF2-40B4-BE49-F238E27FC236}">
                    <a16:creationId xmlns:a16="http://schemas.microsoft.com/office/drawing/2014/main" id="{FD77ACDA-3CFF-5F98-6749-64427780B4D9}"/>
                  </a:ext>
                </a:extLst>
              </p:cNvPr>
              <p:cNvSpPr txBox="1">
                <a:spLocks noRot="1" noChangeAspect="1" noMove="1" noResize="1" noEditPoints="1" noAdjustHandles="1" noChangeArrowheads="1" noChangeShapeType="1" noTextEdit="1"/>
              </p:cNvSpPr>
              <p:nvPr/>
            </p:nvSpPr>
            <p:spPr>
              <a:xfrm>
                <a:off x="896469" y="448978"/>
                <a:ext cx="11125201" cy="3336811"/>
              </a:xfrm>
              <a:prstGeom prst="rect">
                <a:avLst/>
              </a:prstGeom>
              <a:blipFill>
                <a:blip r:embed="rId2"/>
                <a:stretch>
                  <a:fillRect l="-438" t="-1280" r="-82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4F43DDC-1623-C621-2A8E-EB9D05BB9943}"/>
              </a:ext>
            </a:extLst>
          </p:cNvPr>
          <p:cNvPicPr>
            <a:picLocks noChangeAspect="1"/>
          </p:cNvPicPr>
          <p:nvPr/>
        </p:nvPicPr>
        <p:blipFill>
          <a:blip r:embed="rId3"/>
          <a:stretch>
            <a:fillRect/>
          </a:stretch>
        </p:blipFill>
        <p:spPr>
          <a:xfrm>
            <a:off x="5260221" y="1797315"/>
            <a:ext cx="1044030" cy="320068"/>
          </a:xfrm>
          <a:prstGeom prst="rect">
            <a:avLst/>
          </a:prstGeom>
        </p:spPr>
      </p:pic>
      <p:pic>
        <p:nvPicPr>
          <p:cNvPr id="7" name="Picture 6">
            <a:extLst>
              <a:ext uri="{FF2B5EF4-FFF2-40B4-BE49-F238E27FC236}">
                <a16:creationId xmlns:a16="http://schemas.microsoft.com/office/drawing/2014/main" id="{9797F0E9-5A59-A630-20F0-92B9F033BF57}"/>
              </a:ext>
            </a:extLst>
          </p:cNvPr>
          <p:cNvPicPr>
            <a:picLocks noChangeAspect="1"/>
          </p:cNvPicPr>
          <p:nvPr/>
        </p:nvPicPr>
        <p:blipFill>
          <a:blip r:embed="rId4"/>
          <a:stretch>
            <a:fillRect/>
          </a:stretch>
        </p:blipFill>
        <p:spPr>
          <a:xfrm>
            <a:off x="5253318" y="2117384"/>
            <a:ext cx="6938682" cy="4498570"/>
          </a:xfrm>
          <a:prstGeom prst="rect">
            <a:avLst/>
          </a:prstGeom>
        </p:spPr>
      </p:pic>
    </p:spTree>
    <p:extLst>
      <p:ext uri="{BB962C8B-B14F-4D97-AF65-F5344CB8AC3E}">
        <p14:creationId xmlns:p14="http://schemas.microsoft.com/office/powerpoint/2010/main" val="591571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341183-887B-DAB3-588D-D9E9299D644D}"/>
              </a:ext>
            </a:extLst>
          </p:cNvPr>
          <p:cNvPicPr>
            <a:picLocks noChangeAspect="1"/>
          </p:cNvPicPr>
          <p:nvPr/>
        </p:nvPicPr>
        <p:blipFill>
          <a:blip r:embed="rId2"/>
          <a:stretch>
            <a:fillRect/>
          </a:stretch>
        </p:blipFill>
        <p:spPr>
          <a:xfrm>
            <a:off x="587232" y="493221"/>
            <a:ext cx="4168501" cy="1425063"/>
          </a:xfrm>
          <a:prstGeom prst="rect">
            <a:avLst/>
          </a:prstGeom>
        </p:spPr>
      </p:pic>
      <p:pic>
        <p:nvPicPr>
          <p:cNvPr id="5" name="Picture 4">
            <a:extLst>
              <a:ext uri="{FF2B5EF4-FFF2-40B4-BE49-F238E27FC236}">
                <a16:creationId xmlns:a16="http://schemas.microsoft.com/office/drawing/2014/main" id="{8E58DC96-2605-1E4D-6C82-3FCC0D6D45C6}"/>
              </a:ext>
            </a:extLst>
          </p:cNvPr>
          <p:cNvPicPr>
            <a:picLocks noChangeAspect="1"/>
          </p:cNvPicPr>
          <p:nvPr/>
        </p:nvPicPr>
        <p:blipFill>
          <a:blip r:embed="rId3"/>
          <a:stretch>
            <a:fillRect/>
          </a:stretch>
        </p:blipFill>
        <p:spPr>
          <a:xfrm>
            <a:off x="655176" y="1918284"/>
            <a:ext cx="8497036" cy="2171888"/>
          </a:xfrm>
          <a:prstGeom prst="rect">
            <a:avLst/>
          </a:prstGeom>
        </p:spPr>
      </p:pic>
    </p:spTree>
    <p:extLst>
      <p:ext uri="{BB962C8B-B14F-4D97-AF65-F5344CB8AC3E}">
        <p14:creationId xmlns:p14="http://schemas.microsoft.com/office/powerpoint/2010/main" val="3769323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95A720-A2C4-4163-8475-9004157FC443}"/>
              </a:ext>
            </a:extLst>
          </p:cNvPr>
          <p:cNvPicPr>
            <a:picLocks noChangeAspect="1"/>
          </p:cNvPicPr>
          <p:nvPr/>
        </p:nvPicPr>
        <p:blipFill>
          <a:blip r:embed="rId2"/>
          <a:stretch>
            <a:fillRect/>
          </a:stretch>
        </p:blipFill>
        <p:spPr>
          <a:xfrm>
            <a:off x="180269" y="142082"/>
            <a:ext cx="8550381" cy="5372566"/>
          </a:xfrm>
          <a:prstGeom prst="rect">
            <a:avLst/>
          </a:prstGeom>
        </p:spPr>
      </p:pic>
      <p:pic>
        <p:nvPicPr>
          <p:cNvPr id="3" name="Picture 2">
            <a:extLst>
              <a:ext uri="{FF2B5EF4-FFF2-40B4-BE49-F238E27FC236}">
                <a16:creationId xmlns:a16="http://schemas.microsoft.com/office/drawing/2014/main" id="{5FEC16E8-D7C8-FED6-AFF1-BCD9DA6F7756}"/>
              </a:ext>
            </a:extLst>
          </p:cNvPr>
          <p:cNvPicPr>
            <a:picLocks noChangeAspect="1"/>
          </p:cNvPicPr>
          <p:nvPr/>
        </p:nvPicPr>
        <p:blipFill>
          <a:blip r:embed="rId3"/>
          <a:stretch>
            <a:fillRect/>
          </a:stretch>
        </p:blipFill>
        <p:spPr>
          <a:xfrm>
            <a:off x="5970494" y="4620236"/>
            <a:ext cx="6107514" cy="2095682"/>
          </a:xfrm>
          <a:prstGeom prst="rect">
            <a:avLst/>
          </a:prstGeom>
        </p:spPr>
      </p:pic>
    </p:spTree>
    <p:extLst>
      <p:ext uri="{BB962C8B-B14F-4D97-AF65-F5344CB8AC3E}">
        <p14:creationId xmlns:p14="http://schemas.microsoft.com/office/powerpoint/2010/main" val="261025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sliders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DO IT RIGHT</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Scaling in code — and avoiding leakage</a:t>
            </a:r>
            <a:endParaRPr lang="en-US" sz="2700" dirty="0"/>
          </a:p>
        </p:txBody>
      </p:sp>
      <p:sp>
        <p:nvSpPr>
          <p:cNvPr id="6" name="Shape 3"/>
          <p:cNvSpPr/>
          <p:nvPr/>
        </p:nvSpPr>
        <p:spPr>
          <a:xfrm>
            <a:off x="548640" y="1664208"/>
            <a:ext cx="6035040" cy="2743200"/>
          </a:xfrm>
          <a:prstGeom prst="roundRect">
            <a:avLst>
              <a:gd name="adj" fmla="val 2000"/>
            </a:avLst>
          </a:prstGeom>
          <a:solidFill>
            <a:srgbClr val="0E1B2E"/>
          </a:solidFill>
          <a:ln/>
          <a:effectLst>
            <a:outerShdw blurRad="101600" dist="38100" dir="5400000" algn="bl" rotWithShape="0">
              <a:srgbClr val="000000">
                <a:alpha val="14000"/>
              </a:srgbClr>
            </a:outerShdw>
          </a:effectLst>
        </p:spPr>
      </p:sp>
      <p:sp>
        <p:nvSpPr>
          <p:cNvPr id="7" name="Shape 4"/>
          <p:cNvSpPr/>
          <p:nvPr/>
        </p:nvSpPr>
        <p:spPr>
          <a:xfrm>
            <a:off x="694944" y="1810512"/>
            <a:ext cx="91440" cy="91440"/>
          </a:xfrm>
          <a:prstGeom prst="ellipse">
            <a:avLst/>
          </a:prstGeom>
          <a:solidFill>
            <a:srgbClr val="FF5F56"/>
          </a:solidFill>
          <a:ln/>
        </p:spPr>
      </p:sp>
      <p:sp>
        <p:nvSpPr>
          <p:cNvPr id="8" name="Shape 5"/>
          <p:cNvSpPr/>
          <p:nvPr/>
        </p:nvSpPr>
        <p:spPr>
          <a:xfrm>
            <a:off x="841248" y="1810512"/>
            <a:ext cx="91440" cy="91440"/>
          </a:xfrm>
          <a:prstGeom prst="ellipse">
            <a:avLst/>
          </a:prstGeom>
          <a:solidFill>
            <a:srgbClr val="FFBD2E"/>
          </a:solidFill>
          <a:ln/>
        </p:spPr>
      </p:sp>
      <p:sp>
        <p:nvSpPr>
          <p:cNvPr id="9" name="Shape 6"/>
          <p:cNvSpPr/>
          <p:nvPr/>
        </p:nvSpPr>
        <p:spPr>
          <a:xfrm>
            <a:off x="987552" y="1810512"/>
            <a:ext cx="91440" cy="91440"/>
          </a:xfrm>
          <a:prstGeom prst="ellipse">
            <a:avLst/>
          </a:prstGeom>
          <a:solidFill>
            <a:srgbClr val="27C93F"/>
          </a:solidFill>
          <a:ln/>
        </p:spPr>
      </p:sp>
      <p:sp>
        <p:nvSpPr>
          <p:cNvPr id="10" name="Text 7"/>
          <p:cNvSpPr/>
          <p:nvPr/>
        </p:nvSpPr>
        <p:spPr>
          <a:xfrm>
            <a:off x="1188720" y="1737360"/>
            <a:ext cx="5212080" cy="237744"/>
          </a:xfrm>
          <a:prstGeom prst="rect">
            <a:avLst/>
          </a:prstGeom>
          <a:noFill/>
          <a:ln/>
        </p:spPr>
        <p:txBody>
          <a:bodyPr wrap="square" lIns="0" tIns="0" rIns="0" bIns="0" rtlCol="0" anchor="ctr"/>
          <a:lstStyle/>
          <a:p>
            <a:pPr marL="0" indent="0" algn="l">
              <a:buNone/>
            </a:pPr>
            <a:r>
              <a:rPr lang="en-US" sz="950" dirty="0">
                <a:solidFill>
                  <a:srgbClr val="8FA6BE"/>
                </a:solidFill>
                <a:latin typeface="Courier New" pitchFamily="34" charset="0"/>
                <a:ea typeface="Courier New" pitchFamily="34" charset="-122"/>
                <a:cs typeface="Courier New" pitchFamily="34" charset="-120"/>
              </a:rPr>
              <a:t>scale.py</a:t>
            </a:r>
            <a:endParaRPr lang="en-US" sz="950" dirty="0"/>
          </a:p>
        </p:txBody>
      </p:sp>
      <p:sp>
        <p:nvSpPr>
          <p:cNvPr id="11" name="Text 8"/>
          <p:cNvSpPr/>
          <p:nvPr/>
        </p:nvSpPr>
        <p:spPr>
          <a:xfrm>
            <a:off x="749808" y="2048256"/>
            <a:ext cx="5632704" cy="2212848"/>
          </a:xfrm>
          <a:prstGeom prst="rect">
            <a:avLst/>
          </a:prstGeom>
          <a:noFill/>
          <a:ln/>
        </p:spPr>
        <p:txBody>
          <a:bodyPr wrap="square" lIns="0" tIns="0" rIns="0" bIns="0" rtlCol="0" anchor="t"/>
          <a:lstStyle/>
          <a:p>
            <a:pPr marL="0" indent="0" algn="l">
              <a:lnSpc>
                <a:spcPct val="112000"/>
              </a:lnSpc>
              <a:buNone/>
            </a:pPr>
            <a:r>
              <a:rPr lang="en-US" sz="1150" dirty="0">
                <a:solidFill>
                  <a:srgbClr val="F4B942"/>
                </a:solidFill>
                <a:latin typeface="Courier New" pitchFamily="34" charset="0"/>
                <a:ea typeface="Courier New" pitchFamily="34" charset="-122"/>
                <a:cs typeface="Courier New" pitchFamily="34" charset="-120"/>
              </a:rPr>
              <a:t>from sklearn.preprocessing import StandardScaler</a:t>
            </a:r>
            <a:endParaRPr lang="en-US" sz="1150" dirty="0"/>
          </a:p>
          <a:p>
            <a:pPr marL="0" indent="0" algn="l">
              <a:lnSpc>
                <a:spcPct val="112000"/>
              </a:lnSpc>
              <a:buNone/>
            </a:pPr>
            <a:r>
              <a:rPr lang="en-US" sz="1150" dirty="0">
                <a:solidFill>
                  <a:srgbClr val="F4B942"/>
                </a:solidFill>
                <a:latin typeface="Courier New" pitchFamily="34" charset="0"/>
                <a:ea typeface="Courier New" pitchFamily="34" charset="-122"/>
                <a:cs typeface="Courier New" pitchFamily="34" charset="-120"/>
              </a:rPr>
              <a:t>from sklearn.model_selection import train_test_split</a:t>
            </a:r>
            <a:endParaRPr lang="en-US" sz="1150" dirty="0"/>
          </a:p>
          <a:p>
            <a:pPr marL="0" indent="0" algn="l">
              <a:lnSpc>
                <a:spcPct val="112000"/>
              </a:lnSpc>
              <a:buNone/>
            </a:pPr>
            <a:endParaRPr lang="en-US" sz="115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X_train, X_test = train_test_split(X)</a:t>
            </a:r>
            <a:endParaRPr lang="en-US" sz="115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scaler = StandardScaler()</a:t>
            </a:r>
            <a:endParaRPr lang="en-US" sz="1150" dirty="0"/>
          </a:p>
          <a:p>
            <a:pPr marL="0" indent="0" algn="l">
              <a:lnSpc>
                <a:spcPct val="112000"/>
              </a:lnSpc>
              <a:buNone/>
            </a:pPr>
            <a:r>
              <a:rPr lang="en-US" sz="1100" dirty="0">
                <a:solidFill>
                  <a:srgbClr val="7FA8C9"/>
                </a:solidFill>
                <a:latin typeface="Courier New" pitchFamily="34" charset="0"/>
                <a:ea typeface="Courier New" pitchFamily="34" charset="-122"/>
                <a:cs typeface="Courier New" pitchFamily="34" charset="-120"/>
              </a:rPr>
              <a:t># fit ONLY on training data</a:t>
            </a:r>
            <a:endParaRPr lang="en-US" sz="115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X_train = scaler.fit_transform(X_train)</a:t>
            </a:r>
            <a:endParaRPr lang="en-US" sz="1150" dirty="0"/>
          </a:p>
          <a:p>
            <a:pPr marL="0" indent="0" algn="l">
              <a:lnSpc>
                <a:spcPct val="112000"/>
              </a:lnSpc>
              <a:buNone/>
            </a:pPr>
            <a:r>
              <a:rPr lang="en-US" sz="1100" dirty="0">
                <a:solidFill>
                  <a:srgbClr val="7FA8C9"/>
                </a:solidFill>
                <a:latin typeface="Courier New" pitchFamily="34" charset="0"/>
                <a:ea typeface="Courier New" pitchFamily="34" charset="-122"/>
                <a:cs typeface="Courier New" pitchFamily="34" charset="-120"/>
              </a:rPr>
              <a:t># reuse those stats on the test set</a:t>
            </a:r>
            <a:endParaRPr lang="en-US" sz="115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X_test  = scaler.transform(X_test)</a:t>
            </a:r>
            <a:endParaRPr lang="en-US" sz="1150" dirty="0"/>
          </a:p>
        </p:txBody>
      </p:sp>
      <p:sp>
        <p:nvSpPr>
          <p:cNvPr id="12" name="Shape 9"/>
          <p:cNvSpPr/>
          <p:nvPr/>
        </p:nvSpPr>
        <p:spPr>
          <a:xfrm>
            <a:off x="6766560" y="1664208"/>
            <a:ext cx="4873752" cy="2743200"/>
          </a:xfrm>
          <a:prstGeom prst="roundRect">
            <a:avLst>
              <a:gd name="adj" fmla="val 3000"/>
            </a:avLst>
          </a:prstGeom>
          <a:solidFill>
            <a:srgbClr val="16263F"/>
          </a:solidFill>
          <a:ln/>
          <a:effectLst>
            <a:outerShdw blurRad="101600" dist="38100" dir="5400000" algn="bl" rotWithShape="0">
              <a:srgbClr val="000000">
                <a:alpha val="14000"/>
              </a:srgbClr>
            </a:outerShdw>
          </a:effectLst>
        </p:spPr>
      </p:sp>
      <p:sp>
        <p:nvSpPr>
          <p:cNvPr id="13" name="Shape 10"/>
          <p:cNvSpPr/>
          <p:nvPr/>
        </p:nvSpPr>
        <p:spPr>
          <a:xfrm>
            <a:off x="6995160" y="1874520"/>
            <a:ext cx="603504" cy="603504"/>
          </a:xfrm>
          <a:prstGeom prst="ellipse">
            <a:avLst/>
          </a:prstGeom>
          <a:solidFill>
            <a:srgbClr val="F4B942"/>
          </a:solidFill>
          <a:ln/>
          <a:effectLst>
            <a:outerShdw blurRad="101600" dist="38100" dir="5400000" algn="bl" rotWithShape="0">
              <a:srgbClr val="000000">
                <a:alpha val="14000"/>
              </a:srgbClr>
            </a:outerShdw>
          </a:effectLst>
        </p:spPr>
      </p:sp>
      <p:pic>
        <p:nvPicPr>
          <p:cNvPr id="14" name="Image 1" descr="ic_warn_navy.png"/>
          <p:cNvPicPr>
            <a:picLocks noChangeAspect="1"/>
          </p:cNvPicPr>
          <p:nvPr/>
        </p:nvPicPr>
        <p:blipFill>
          <a:blip r:embed="rId4"/>
          <a:stretch>
            <a:fillRect/>
          </a:stretch>
        </p:blipFill>
        <p:spPr>
          <a:xfrm>
            <a:off x="7130948" y="2010308"/>
            <a:ext cx="331927" cy="331927"/>
          </a:xfrm>
          <a:prstGeom prst="rect">
            <a:avLst/>
          </a:prstGeom>
        </p:spPr>
      </p:pic>
      <p:sp>
        <p:nvSpPr>
          <p:cNvPr id="15" name="Text 11"/>
          <p:cNvSpPr/>
          <p:nvPr/>
        </p:nvSpPr>
        <p:spPr>
          <a:xfrm>
            <a:off x="7726680" y="1920240"/>
            <a:ext cx="3749040" cy="457200"/>
          </a:xfrm>
          <a:prstGeom prst="rect">
            <a:avLst/>
          </a:prstGeom>
          <a:noFill/>
          <a:ln/>
        </p:spPr>
        <p:txBody>
          <a:bodyPr wrap="square" lIns="0" tIns="0" rIns="0" bIns="0" rtlCol="0" anchor="ctr"/>
          <a:lstStyle/>
          <a:p>
            <a:pPr marL="0" indent="0" algn="l">
              <a:buNone/>
            </a:pPr>
            <a:r>
              <a:rPr lang="en-US" sz="1550" b="1" dirty="0">
                <a:solidFill>
                  <a:srgbClr val="F4B942"/>
                </a:solidFill>
                <a:latin typeface="Calibri" pitchFamily="34" charset="0"/>
                <a:ea typeface="Calibri" pitchFamily="34" charset="-122"/>
                <a:cs typeface="Calibri" pitchFamily="34" charset="-120"/>
              </a:rPr>
              <a:t>Avoid data leakage</a:t>
            </a:r>
            <a:endParaRPr lang="en-US" sz="1550" dirty="0"/>
          </a:p>
        </p:txBody>
      </p:sp>
      <p:sp>
        <p:nvSpPr>
          <p:cNvPr id="16" name="Text 12"/>
          <p:cNvSpPr/>
          <p:nvPr/>
        </p:nvSpPr>
        <p:spPr>
          <a:xfrm>
            <a:off x="6995160" y="2697480"/>
            <a:ext cx="4480560" cy="1691640"/>
          </a:xfrm>
          <a:prstGeom prst="rect">
            <a:avLst/>
          </a:prstGeom>
          <a:noFill/>
          <a:ln/>
        </p:spPr>
        <p:txBody>
          <a:bodyPr wrap="square" lIns="0" tIns="0" rIns="0" bIns="0" rtlCol="0" anchor="t"/>
          <a:lstStyle/>
          <a:p>
            <a:pPr marL="0" indent="0" algn="l">
              <a:lnSpc>
                <a:spcPct val="112000"/>
              </a:lnSpc>
              <a:buNone/>
            </a:pPr>
            <a:r>
              <a:rPr lang="en-US" sz="1200" b="1" dirty="0">
                <a:solidFill>
                  <a:srgbClr val="FFFFFF"/>
                </a:solidFill>
                <a:latin typeface="Calibri" pitchFamily="34" charset="0"/>
                <a:ea typeface="Calibri" pitchFamily="34" charset="-122"/>
                <a:cs typeface="Calibri" pitchFamily="34" charset="-120"/>
              </a:rPr>
              <a:t>Golden rule:  </a:t>
            </a:r>
            <a:r>
              <a:rPr lang="en-US" sz="1200" dirty="0">
                <a:solidFill>
                  <a:srgbClr val="DCE7F2"/>
                </a:solidFill>
                <a:latin typeface="Calibri" pitchFamily="34" charset="0"/>
                <a:ea typeface="Calibri" pitchFamily="34" charset="-122"/>
                <a:cs typeface="Calibri" pitchFamily="34" charset="-120"/>
              </a:rPr>
              <a:t>fit scalers, encoders and imputers on </a:t>
            </a:r>
            <a:r>
              <a:rPr lang="en-US" sz="1200" b="1" dirty="0">
                <a:solidFill>
                  <a:srgbClr val="F4B942"/>
                </a:solidFill>
                <a:latin typeface="Calibri" pitchFamily="34" charset="0"/>
                <a:ea typeface="Calibri" pitchFamily="34" charset="-122"/>
                <a:cs typeface="Calibri" pitchFamily="34" charset="-120"/>
              </a:rPr>
              <a:t>training data only</a:t>
            </a:r>
            <a:r>
              <a:rPr lang="en-US" sz="1200" dirty="0">
                <a:solidFill>
                  <a:srgbClr val="DCE7F2"/>
                </a:solidFill>
                <a:latin typeface="Calibri" pitchFamily="34" charset="0"/>
                <a:ea typeface="Calibri" pitchFamily="34" charset="-122"/>
                <a:cs typeface="Calibri" pitchFamily="34" charset="-120"/>
              </a:rPr>
              <a:t>, then apply to test.</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C7D6E6"/>
                </a:solidFill>
                <a:latin typeface="Calibri" pitchFamily="34" charset="0"/>
                <a:ea typeface="Calibri" pitchFamily="34" charset="-122"/>
                <a:cs typeface="Calibri" pitchFamily="34" charset="-120"/>
              </a:rPr>
              <a:t>Fitting on all data lets test information leak in — inflating scores you can't reproduce in production.</a:t>
            </a:r>
            <a:endParaRPr lang="en-US" sz="1200" dirty="0"/>
          </a:p>
        </p:txBody>
      </p:sp>
      <p:sp>
        <p:nvSpPr>
          <p:cNvPr id="17" name="Shape 13"/>
          <p:cNvSpPr/>
          <p:nvPr/>
        </p:nvSpPr>
        <p:spPr>
          <a:xfrm>
            <a:off x="548640" y="5138928"/>
            <a:ext cx="11091672" cy="566928"/>
          </a:xfrm>
          <a:prstGeom prst="roundRect">
            <a:avLst>
              <a:gd name="adj" fmla="val 11290"/>
            </a:avLst>
          </a:prstGeom>
          <a:solidFill>
            <a:srgbClr val="FBF1D8"/>
          </a:solidFill>
          <a:ln/>
        </p:spPr>
      </p:sp>
      <p:sp>
        <p:nvSpPr>
          <p:cNvPr id="18" name="Shape 14"/>
          <p:cNvSpPr/>
          <p:nvPr/>
        </p:nvSpPr>
        <p:spPr>
          <a:xfrm>
            <a:off x="694944" y="5257800"/>
            <a:ext cx="329184" cy="329184"/>
          </a:xfrm>
          <a:prstGeom prst="ellipse">
            <a:avLst/>
          </a:prstGeom>
          <a:solidFill>
            <a:srgbClr val="F4B942"/>
          </a:solidFill>
          <a:ln/>
        </p:spPr>
      </p:sp>
      <p:pic>
        <p:nvPicPr>
          <p:cNvPr id="19" name="Image 2" descr="ic_flask_navy.png"/>
          <p:cNvPicPr>
            <a:picLocks noChangeAspect="1"/>
          </p:cNvPicPr>
          <p:nvPr/>
        </p:nvPicPr>
        <p:blipFill>
          <a:blip r:embed="rId5"/>
          <a:stretch>
            <a:fillRect/>
          </a:stretch>
        </p:blipFill>
        <p:spPr>
          <a:xfrm>
            <a:off x="777240" y="5340096"/>
            <a:ext cx="164592" cy="164592"/>
          </a:xfrm>
          <a:prstGeom prst="rect">
            <a:avLst/>
          </a:prstGeom>
        </p:spPr>
      </p:pic>
      <p:sp>
        <p:nvSpPr>
          <p:cNvPr id="20" name="Text 15"/>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Split first, then fit the scaler on train only and transform both sets.</a:t>
            </a:r>
            <a:endParaRPr lang="en-US" sz="1100" dirty="0"/>
          </a:p>
        </p:txBody>
      </p:sp>
      <p:sp>
        <p:nvSpPr>
          <p:cNvPr id="21" name="Text 16"/>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22" name="Text 17"/>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magic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CRAFT BETTER INPUTS</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Feature engineering basics</a:t>
            </a:r>
            <a:endParaRPr lang="en-US" sz="2700" dirty="0"/>
          </a:p>
        </p:txBody>
      </p:sp>
      <p:sp>
        <p:nvSpPr>
          <p:cNvPr id="6" name="Shape 3"/>
          <p:cNvSpPr/>
          <p:nvPr/>
        </p:nvSpPr>
        <p:spPr>
          <a:xfrm>
            <a:off x="548640" y="1572768"/>
            <a:ext cx="11091672" cy="749808"/>
          </a:xfrm>
          <a:prstGeom prst="roundRect">
            <a:avLst>
              <a:gd name="adj" fmla="val 9756"/>
            </a:avLst>
          </a:prstGeom>
          <a:solidFill>
            <a:srgbClr val="16263F"/>
          </a:solidFill>
          <a:ln/>
          <a:effectLst>
            <a:outerShdw blurRad="101600" dist="38100" dir="5400000" algn="bl" rotWithShape="0">
              <a:srgbClr val="000000">
                <a:alpha val="14000"/>
              </a:srgbClr>
            </a:outerShdw>
          </a:effectLst>
        </p:spPr>
      </p:sp>
      <p:sp>
        <p:nvSpPr>
          <p:cNvPr id="7" name="Text 4"/>
          <p:cNvSpPr/>
          <p:nvPr/>
        </p:nvSpPr>
        <p:spPr>
          <a:xfrm>
            <a:off x="822960" y="1572768"/>
            <a:ext cx="10515600" cy="749808"/>
          </a:xfrm>
          <a:prstGeom prst="rect">
            <a:avLst/>
          </a:prstGeom>
          <a:noFill/>
          <a:ln/>
        </p:spPr>
        <p:txBody>
          <a:bodyPr wrap="square" lIns="0" tIns="0" rIns="0" bIns="0" rtlCol="0" anchor="ctr"/>
          <a:lstStyle/>
          <a:p>
            <a:pPr marL="0" indent="0" algn="l">
              <a:buNone/>
            </a:pPr>
            <a:r>
              <a:rPr lang="en-US" sz="1350" b="1" dirty="0">
                <a:solidFill>
                  <a:srgbClr val="F4B942"/>
                </a:solidFill>
                <a:latin typeface="Calibri" pitchFamily="34" charset="0"/>
                <a:ea typeface="Calibri" pitchFamily="34" charset="-122"/>
                <a:cs typeface="Calibri" pitchFamily="34" charset="-120"/>
              </a:rPr>
              <a:t>The idea:  </a:t>
            </a:r>
            <a:r>
              <a:rPr lang="en-US" sz="1350" dirty="0">
                <a:solidFill>
                  <a:srgbClr val="DCE7F2"/>
                </a:solidFill>
                <a:latin typeface="Calibri" pitchFamily="34" charset="0"/>
                <a:ea typeface="Calibri" pitchFamily="34" charset="-122"/>
                <a:cs typeface="Calibri" pitchFamily="34" charset="-120"/>
              </a:rPr>
              <a:t>create new columns that expose the signal more directly — often the biggest lever on model performance.</a:t>
            </a:r>
            <a:endParaRPr lang="en-US" sz="1350" dirty="0"/>
          </a:p>
        </p:txBody>
      </p:sp>
      <p:sp>
        <p:nvSpPr>
          <p:cNvPr id="8" name="Shape 5"/>
          <p:cNvSpPr/>
          <p:nvPr/>
        </p:nvSpPr>
        <p:spPr>
          <a:xfrm>
            <a:off x="548640" y="2560320"/>
            <a:ext cx="2615184" cy="1874520"/>
          </a:xfrm>
          <a:prstGeom prst="roundRect">
            <a:avLst>
              <a:gd name="adj" fmla="val 4390"/>
            </a:avLst>
          </a:prstGeom>
          <a:solidFill>
            <a:srgbClr val="F2F5F9"/>
          </a:solidFill>
          <a:ln/>
        </p:spPr>
      </p:sp>
      <p:sp>
        <p:nvSpPr>
          <p:cNvPr id="9" name="Shape 6"/>
          <p:cNvSpPr/>
          <p:nvPr/>
        </p:nvSpPr>
        <p:spPr>
          <a:xfrm>
            <a:off x="1472184" y="2798064"/>
            <a:ext cx="768096" cy="768096"/>
          </a:xfrm>
          <a:prstGeom prst="ellipse">
            <a:avLst/>
          </a:prstGeom>
          <a:solidFill>
            <a:srgbClr val="16263F"/>
          </a:solidFill>
          <a:ln/>
        </p:spPr>
      </p:sp>
      <p:pic>
        <p:nvPicPr>
          <p:cNvPr id="10" name="Image 1" descr="ic_cal_white.png"/>
          <p:cNvPicPr>
            <a:picLocks noChangeAspect="1"/>
          </p:cNvPicPr>
          <p:nvPr/>
        </p:nvPicPr>
        <p:blipFill>
          <a:blip r:embed="rId4"/>
          <a:stretch>
            <a:fillRect/>
          </a:stretch>
        </p:blipFill>
        <p:spPr>
          <a:xfrm>
            <a:off x="1655064" y="2999232"/>
            <a:ext cx="402336" cy="402336"/>
          </a:xfrm>
          <a:prstGeom prst="rect">
            <a:avLst/>
          </a:prstGeom>
        </p:spPr>
      </p:pic>
      <p:sp>
        <p:nvSpPr>
          <p:cNvPr id="11" name="Text 7"/>
          <p:cNvSpPr/>
          <p:nvPr/>
        </p:nvSpPr>
        <p:spPr>
          <a:xfrm>
            <a:off x="658368" y="3675888"/>
            <a:ext cx="2395728" cy="329184"/>
          </a:xfrm>
          <a:prstGeom prst="rect">
            <a:avLst/>
          </a:prstGeom>
          <a:noFill/>
          <a:ln/>
        </p:spPr>
        <p:txBody>
          <a:bodyPr wrap="square" lIns="0" tIns="0" rIns="0" bIns="0" rtlCol="0" anchor="ctr"/>
          <a:lstStyle/>
          <a:p>
            <a:pPr marL="0" indent="0" algn="ctr">
              <a:buNone/>
            </a:pPr>
            <a:r>
              <a:rPr lang="en-US" sz="1350" b="1" dirty="0">
                <a:solidFill>
                  <a:srgbClr val="16263F"/>
                </a:solidFill>
                <a:latin typeface="Calibri" pitchFamily="34" charset="0"/>
                <a:ea typeface="Calibri" pitchFamily="34" charset="-122"/>
                <a:cs typeface="Calibri" pitchFamily="34" charset="-120"/>
              </a:rPr>
              <a:t>Extract from dates</a:t>
            </a:r>
            <a:endParaRPr lang="en-US" sz="1350" dirty="0"/>
          </a:p>
        </p:txBody>
      </p:sp>
      <p:sp>
        <p:nvSpPr>
          <p:cNvPr id="12" name="Text 8"/>
          <p:cNvSpPr/>
          <p:nvPr/>
        </p:nvSpPr>
        <p:spPr>
          <a:xfrm>
            <a:off x="694944" y="4005072"/>
            <a:ext cx="2322576" cy="411480"/>
          </a:xfrm>
          <a:prstGeom prst="rect">
            <a:avLst/>
          </a:prstGeom>
          <a:noFill/>
          <a:ln/>
        </p:spPr>
        <p:txBody>
          <a:bodyPr wrap="square" lIns="0" tIns="0" rIns="0" bIns="0" rtlCol="0" anchor="t"/>
          <a:lstStyle/>
          <a:p>
            <a:pPr marL="0" indent="0" algn="ctr">
              <a:lnSpc>
                <a:spcPct val="102000"/>
              </a:lnSpc>
              <a:buNone/>
            </a:pPr>
            <a:r>
              <a:rPr lang="en-US" sz="1000" dirty="0">
                <a:solidFill>
                  <a:srgbClr val="5C6B7A"/>
                </a:solidFill>
                <a:latin typeface="Calibri" pitchFamily="34" charset="0"/>
                <a:ea typeface="Calibri" pitchFamily="34" charset="-122"/>
                <a:cs typeface="Calibri" pitchFamily="34" charset="-120"/>
              </a:rPr>
              <a:t>date → day-of-week, month, is_weekend</a:t>
            </a:r>
            <a:endParaRPr lang="en-US" sz="1000" dirty="0"/>
          </a:p>
        </p:txBody>
      </p:sp>
      <p:sp>
        <p:nvSpPr>
          <p:cNvPr id="13" name="Shape 9"/>
          <p:cNvSpPr/>
          <p:nvPr/>
        </p:nvSpPr>
        <p:spPr>
          <a:xfrm>
            <a:off x="3346704" y="2560320"/>
            <a:ext cx="2615184" cy="1874520"/>
          </a:xfrm>
          <a:prstGeom prst="roundRect">
            <a:avLst>
              <a:gd name="adj" fmla="val 4390"/>
            </a:avLst>
          </a:prstGeom>
          <a:solidFill>
            <a:srgbClr val="F2F5F9"/>
          </a:solidFill>
          <a:ln/>
        </p:spPr>
      </p:sp>
      <p:sp>
        <p:nvSpPr>
          <p:cNvPr id="14" name="Shape 10"/>
          <p:cNvSpPr/>
          <p:nvPr/>
        </p:nvSpPr>
        <p:spPr>
          <a:xfrm>
            <a:off x="4270248" y="2798064"/>
            <a:ext cx="768096" cy="768096"/>
          </a:xfrm>
          <a:prstGeom prst="ellipse">
            <a:avLst/>
          </a:prstGeom>
          <a:solidFill>
            <a:srgbClr val="16263F"/>
          </a:solidFill>
          <a:ln/>
        </p:spPr>
      </p:sp>
      <p:pic>
        <p:nvPicPr>
          <p:cNvPr id="15" name="Image 2" descr="ic_hash_white.png"/>
          <p:cNvPicPr>
            <a:picLocks noChangeAspect="1"/>
          </p:cNvPicPr>
          <p:nvPr/>
        </p:nvPicPr>
        <p:blipFill>
          <a:blip r:embed="rId5"/>
          <a:stretch>
            <a:fillRect/>
          </a:stretch>
        </p:blipFill>
        <p:spPr>
          <a:xfrm>
            <a:off x="4453128" y="2999232"/>
            <a:ext cx="402336" cy="402336"/>
          </a:xfrm>
          <a:prstGeom prst="rect">
            <a:avLst/>
          </a:prstGeom>
        </p:spPr>
      </p:pic>
      <p:sp>
        <p:nvSpPr>
          <p:cNvPr id="16" name="Text 11"/>
          <p:cNvSpPr/>
          <p:nvPr/>
        </p:nvSpPr>
        <p:spPr>
          <a:xfrm>
            <a:off x="3456432" y="3675888"/>
            <a:ext cx="2395728" cy="329184"/>
          </a:xfrm>
          <a:prstGeom prst="rect">
            <a:avLst/>
          </a:prstGeom>
          <a:noFill/>
          <a:ln/>
        </p:spPr>
        <p:txBody>
          <a:bodyPr wrap="square" lIns="0" tIns="0" rIns="0" bIns="0" rtlCol="0" anchor="ctr"/>
          <a:lstStyle/>
          <a:p>
            <a:pPr marL="0" indent="0" algn="ctr">
              <a:buNone/>
            </a:pPr>
            <a:r>
              <a:rPr lang="en-US" sz="1350" b="1" dirty="0">
                <a:solidFill>
                  <a:srgbClr val="16263F"/>
                </a:solidFill>
                <a:latin typeface="Calibri" pitchFamily="34" charset="0"/>
                <a:ea typeface="Calibri" pitchFamily="34" charset="-122"/>
                <a:cs typeface="Calibri" pitchFamily="34" charset="-120"/>
              </a:rPr>
              <a:t>Combine columns</a:t>
            </a:r>
            <a:endParaRPr lang="en-US" sz="1350" dirty="0"/>
          </a:p>
        </p:txBody>
      </p:sp>
      <p:sp>
        <p:nvSpPr>
          <p:cNvPr id="17" name="Text 12"/>
          <p:cNvSpPr/>
          <p:nvPr/>
        </p:nvSpPr>
        <p:spPr>
          <a:xfrm>
            <a:off x="3493008" y="4005072"/>
            <a:ext cx="2322576" cy="411480"/>
          </a:xfrm>
          <a:prstGeom prst="rect">
            <a:avLst/>
          </a:prstGeom>
          <a:noFill/>
          <a:ln/>
        </p:spPr>
        <p:txBody>
          <a:bodyPr wrap="square" lIns="0" tIns="0" rIns="0" bIns="0" rtlCol="0" anchor="t"/>
          <a:lstStyle/>
          <a:p>
            <a:pPr marL="0" indent="0" algn="ctr">
              <a:lnSpc>
                <a:spcPct val="102000"/>
              </a:lnSpc>
              <a:buNone/>
            </a:pPr>
            <a:r>
              <a:rPr lang="en-US" sz="1000" dirty="0">
                <a:solidFill>
                  <a:srgbClr val="5C6B7A"/>
                </a:solidFill>
                <a:latin typeface="Calibri" pitchFamily="34" charset="0"/>
                <a:ea typeface="Calibri" pitchFamily="34" charset="-122"/>
                <a:cs typeface="Calibri" pitchFamily="34" charset="-120"/>
              </a:rPr>
              <a:t>height &amp; weight → BMI; price &amp; qty → total</a:t>
            </a:r>
            <a:endParaRPr lang="en-US" sz="1000" dirty="0"/>
          </a:p>
        </p:txBody>
      </p:sp>
      <p:sp>
        <p:nvSpPr>
          <p:cNvPr id="18" name="Shape 13"/>
          <p:cNvSpPr/>
          <p:nvPr/>
        </p:nvSpPr>
        <p:spPr>
          <a:xfrm>
            <a:off x="6144768" y="2560320"/>
            <a:ext cx="2615184" cy="1874520"/>
          </a:xfrm>
          <a:prstGeom prst="roundRect">
            <a:avLst>
              <a:gd name="adj" fmla="val 4390"/>
            </a:avLst>
          </a:prstGeom>
          <a:solidFill>
            <a:srgbClr val="F2F5F9"/>
          </a:solidFill>
          <a:ln/>
        </p:spPr>
      </p:sp>
      <p:sp>
        <p:nvSpPr>
          <p:cNvPr id="19" name="Shape 14"/>
          <p:cNvSpPr/>
          <p:nvPr/>
        </p:nvSpPr>
        <p:spPr>
          <a:xfrm>
            <a:off x="7068312" y="2798064"/>
            <a:ext cx="768096" cy="768096"/>
          </a:xfrm>
          <a:prstGeom prst="ellipse">
            <a:avLst/>
          </a:prstGeom>
          <a:solidFill>
            <a:srgbClr val="16263F"/>
          </a:solidFill>
          <a:ln/>
        </p:spPr>
      </p:sp>
      <p:pic>
        <p:nvPicPr>
          <p:cNvPr id="20" name="Image 3" descr="ic_scissors_white.png"/>
          <p:cNvPicPr>
            <a:picLocks noChangeAspect="1"/>
          </p:cNvPicPr>
          <p:nvPr/>
        </p:nvPicPr>
        <p:blipFill>
          <a:blip r:embed="rId6"/>
          <a:stretch>
            <a:fillRect/>
          </a:stretch>
        </p:blipFill>
        <p:spPr>
          <a:xfrm>
            <a:off x="7251192" y="2999232"/>
            <a:ext cx="402336" cy="402336"/>
          </a:xfrm>
          <a:prstGeom prst="rect">
            <a:avLst/>
          </a:prstGeom>
        </p:spPr>
      </p:pic>
      <p:sp>
        <p:nvSpPr>
          <p:cNvPr id="21" name="Text 15"/>
          <p:cNvSpPr/>
          <p:nvPr/>
        </p:nvSpPr>
        <p:spPr>
          <a:xfrm>
            <a:off x="6254496" y="3675888"/>
            <a:ext cx="2395728" cy="329184"/>
          </a:xfrm>
          <a:prstGeom prst="rect">
            <a:avLst/>
          </a:prstGeom>
          <a:noFill/>
          <a:ln/>
        </p:spPr>
        <p:txBody>
          <a:bodyPr wrap="square" lIns="0" tIns="0" rIns="0" bIns="0" rtlCol="0" anchor="ctr"/>
          <a:lstStyle/>
          <a:p>
            <a:pPr marL="0" indent="0" algn="ctr">
              <a:buNone/>
            </a:pPr>
            <a:r>
              <a:rPr lang="en-US" sz="1350" b="1" dirty="0">
                <a:solidFill>
                  <a:srgbClr val="16263F"/>
                </a:solidFill>
                <a:latin typeface="Calibri" pitchFamily="34" charset="0"/>
                <a:ea typeface="Calibri" pitchFamily="34" charset="-122"/>
                <a:cs typeface="Calibri" pitchFamily="34" charset="-120"/>
              </a:rPr>
              <a:t>Bin / bucket</a:t>
            </a:r>
            <a:endParaRPr lang="en-US" sz="1350" dirty="0"/>
          </a:p>
        </p:txBody>
      </p:sp>
      <p:sp>
        <p:nvSpPr>
          <p:cNvPr id="22" name="Text 16"/>
          <p:cNvSpPr/>
          <p:nvPr/>
        </p:nvSpPr>
        <p:spPr>
          <a:xfrm>
            <a:off x="6291072" y="4005072"/>
            <a:ext cx="2322576" cy="411480"/>
          </a:xfrm>
          <a:prstGeom prst="rect">
            <a:avLst/>
          </a:prstGeom>
          <a:noFill/>
          <a:ln/>
        </p:spPr>
        <p:txBody>
          <a:bodyPr wrap="square" lIns="0" tIns="0" rIns="0" bIns="0" rtlCol="0" anchor="t"/>
          <a:lstStyle/>
          <a:p>
            <a:pPr marL="0" indent="0" algn="ctr">
              <a:lnSpc>
                <a:spcPct val="102000"/>
              </a:lnSpc>
              <a:buNone/>
            </a:pPr>
            <a:r>
              <a:rPr lang="en-US" sz="1000" dirty="0">
                <a:solidFill>
                  <a:srgbClr val="5C6B7A"/>
                </a:solidFill>
                <a:latin typeface="Calibri" pitchFamily="34" charset="0"/>
                <a:ea typeface="Calibri" pitchFamily="34" charset="-122"/>
                <a:cs typeface="Calibri" pitchFamily="34" charset="-120"/>
              </a:rPr>
              <a:t>age → child / adult / senior groups</a:t>
            </a:r>
            <a:endParaRPr lang="en-US" sz="1000" dirty="0"/>
          </a:p>
        </p:txBody>
      </p:sp>
      <p:sp>
        <p:nvSpPr>
          <p:cNvPr id="23" name="Shape 17"/>
          <p:cNvSpPr/>
          <p:nvPr/>
        </p:nvSpPr>
        <p:spPr>
          <a:xfrm>
            <a:off x="8942832" y="2560320"/>
            <a:ext cx="2615184" cy="1874520"/>
          </a:xfrm>
          <a:prstGeom prst="roundRect">
            <a:avLst>
              <a:gd name="adj" fmla="val 4390"/>
            </a:avLst>
          </a:prstGeom>
          <a:solidFill>
            <a:srgbClr val="F2F5F9"/>
          </a:solidFill>
          <a:ln/>
        </p:spPr>
      </p:sp>
      <p:sp>
        <p:nvSpPr>
          <p:cNvPr id="24" name="Shape 18"/>
          <p:cNvSpPr/>
          <p:nvPr/>
        </p:nvSpPr>
        <p:spPr>
          <a:xfrm>
            <a:off x="9866376" y="2798064"/>
            <a:ext cx="768096" cy="768096"/>
          </a:xfrm>
          <a:prstGeom prst="ellipse">
            <a:avLst/>
          </a:prstGeom>
          <a:solidFill>
            <a:srgbClr val="16263F"/>
          </a:solidFill>
          <a:ln/>
        </p:spPr>
      </p:sp>
      <p:pic>
        <p:nvPicPr>
          <p:cNvPr id="25" name="Image 4" descr="ic_tasks_white.png"/>
          <p:cNvPicPr>
            <a:picLocks noChangeAspect="1"/>
          </p:cNvPicPr>
          <p:nvPr/>
        </p:nvPicPr>
        <p:blipFill>
          <a:blip r:embed="rId7"/>
          <a:stretch>
            <a:fillRect/>
          </a:stretch>
        </p:blipFill>
        <p:spPr>
          <a:xfrm>
            <a:off x="10049256" y="2999232"/>
            <a:ext cx="402336" cy="402336"/>
          </a:xfrm>
          <a:prstGeom prst="rect">
            <a:avLst/>
          </a:prstGeom>
        </p:spPr>
      </p:pic>
      <p:sp>
        <p:nvSpPr>
          <p:cNvPr id="26" name="Text 19"/>
          <p:cNvSpPr/>
          <p:nvPr/>
        </p:nvSpPr>
        <p:spPr>
          <a:xfrm>
            <a:off x="9052560" y="3675888"/>
            <a:ext cx="2395728" cy="329184"/>
          </a:xfrm>
          <a:prstGeom prst="rect">
            <a:avLst/>
          </a:prstGeom>
          <a:noFill/>
          <a:ln/>
        </p:spPr>
        <p:txBody>
          <a:bodyPr wrap="square" lIns="0" tIns="0" rIns="0" bIns="0" rtlCol="0" anchor="ctr"/>
          <a:lstStyle/>
          <a:p>
            <a:pPr marL="0" indent="0" algn="ctr">
              <a:buNone/>
            </a:pPr>
            <a:r>
              <a:rPr lang="en-US" sz="1350" b="1" dirty="0">
                <a:solidFill>
                  <a:srgbClr val="16263F"/>
                </a:solidFill>
                <a:latin typeface="Calibri" pitchFamily="34" charset="0"/>
                <a:ea typeface="Calibri" pitchFamily="34" charset="-122"/>
                <a:cs typeface="Calibri" pitchFamily="34" charset="-120"/>
              </a:rPr>
              <a:t>Aggregate</a:t>
            </a:r>
            <a:endParaRPr lang="en-US" sz="1350" dirty="0"/>
          </a:p>
        </p:txBody>
      </p:sp>
      <p:sp>
        <p:nvSpPr>
          <p:cNvPr id="27" name="Text 20"/>
          <p:cNvSpPr/>
          <p:nvPr/>
        </p:nvSpPr>
        <p:spPr>
          <a:xfrm>
            <a:off x="9089136" y="4005072"/>
            <a:ext cx="2322576" cy="411480"/>
          </a:xfrm>
          <a:prstGeom prst="rect">
            <a:avLst/>
          </a:prstGeom>
          <a:noFill/>
          <a:ln/>
        </p:spPr>
        <p:txBody>
          <a:bodyPr wrap="square" lIns="0" tIns="0" rIns="0" bIns="0" rtlCol="0" anchor="t"/>
          <a:lstStyle/>
          <a:p>
            <a:pPr marL="0" indent="0" algn="ctr">
              <a:lnSpc>
                <a:spcPct val="102000"/>
              </a:lnSpc>
              <a:buNone/>
            </a:pPr>
            <a:r>
              <a:rPr lang="en-US" sz="1000" dirty="0">
                <a:solidFill>
                  <a:srgbClr val="5C6B7A"/>
                </a:solidFill>
                <a:latin typeface="Calibri" pitchFamily="34" charset="0"/>
                <a:ea typeface="Calibri" pitchFamily="34" charset="-122"/>
                <a:cs typeface="Calibri" pitchFamily="34" charset="-120"/>
              </a:rPr>
              <a:t>per-customer mean spend, purchase count</a:t>
            </a:r>
            <a:endParaRPr lang="en-US" sz="1000" dirty="0"/>
          </a:p>
        </p:txBody>
      </p:sp>
      <p:sp>
        <p:nvSpPr>
          <p:cNvPr id="28" name="Text 21"/>
          <p:cNvSpPr/>
          <p:nvPr/>
        </p:nvSpPr>
        <p:spPr>
          <a:xfrm>
            <a:off x="548640" y="4572000"/>
            <a:ext cx="11064240" cy="36576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Good features beat fancy models: domain knowledge encoded as columns often wins competitions.</a:t>
            </a:r>
            <a:endParaRPr lang="en-US" sz="1200" dirty="0"/>
          </a:p>
        </p:txBody>
      </p:sp>
      <p:sp>
        <p:nvSpPr>
          <p:cNvPr id="29" name="Shape 22"/>
          <p:cNvSpPr/>
          <p:nvPr/>
        </p:nvSpPr>
        <p:spPr>
          <a:xfrm>
            <a:off x="548640" y="5138928"/>
            <a:ext cx="11091672" cy="566928"/>
          </a:xfrm>
          <a:prstGeom prst="roundRect">
            <a:avLst>
              <a:gd name="adj" fmla="val 11290"/>
            </a:avLst>
          </a:prstGeom>
          <a:solidFill>
            <a:srgbClr val="FBF1D8"/>
          </a:solidFill>
          <a:ln/>
        </p:spPr>
      </p:sp>
      <p:sp>
        <p:nvSpPr>
          <p:cNvPr id="30" name="Shape 23"/>
          <p:cNvSpPr/>
          <p:nvPr/>
        </p:nvSpPr>
        <p:spPr>
          <a:xfrm>
            <a:off x="694944" y="5257800"/>
            <a:ext cx="329184" cy="329184"/>
          </a:xfrm>
          <a:prstGeom prst="ellipse">
            <a:avLst/>
          </a:prstGeom>
          <a:solidFill>
            <a:srgbClr val="F4B942"/>
          </a:solidFill>
          <a:ln/>
        </p:spPr>
      </p:sp>
      <p:pic>
        <p:nvPicPr>
          <p:cNvPr id="31" name="Image 5" descr="ic_flask_navy.png"/>
          <p:cNvPicPr>
            <a:picLocks noChangeAspect="1"/>
          </p:cNvPicPr>
          <p:nvPr/>
        </p:nvPicPr>
        <p:blipFill>
          <a:blip r:embed="rId8"/>
          <a:stretch>
            <a:fillRect/>
          </a:stretch>
        </p:blipFill>
        <p:spPr>
          <a:xfrm>
            <a:off x="777240" y="5340096"/>
            <a:ext cx="164592" cy="164592"/>
          </a:xfrm>
          <a:prstGeom prst="rect">
            <a:avLst/>
          </a:prstGeom>
        </p:spPr>
      </p:pic>
      <p:sp>
        <p:nvSpPr>
          <p:cNvPr id="32" name="Text 24"/>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Engineer 2 new features (e.g. extract day-of-week from a date; combine two columns).</a:t>
            </a:r>
            <a:endParaRPr lang="en-US" sz="1100" dirty="0"/>
          </a:p>
        </p:txBody>
      </p:sp>
      <p:sp>
        <p:nvSpPr>
          <p:cNvPr id="33" name="Text 25"/>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34" name="Text 26"/>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CC425-5018-BD97-22FC-34157FF1F448}"/>
              </a:ext>
            </a:extLst>
          </p:cNvPr>
          <p:cNvSpPr txBox="1"/>
          <p:nvPr/>
        </p:nvSpPr>
        <p:spPr>
          <a:xfrm>
            <a:off x="932328" y="350548"/>
            <a:ext cx="10416989" cy="1477328"/>
          </a:xfrm>
          <a:prstGeom prst="rect">
            <a:avLst/>
          </a:prstGeom>
          <a:noFill/>
        </p:spPr>
        <p:txBody>
          <a:bodyPr wrap="square">
            <a:spAutoFit/>
          </a:bodyPr>
          <a:lstStyle/>
          <a:p>
            <a:r>
              <a:rPr lang="en-US" b="0" i="0" dirty="0">
                <a:solidFill>
                  <a:srgbClr val="273239"/>
                </a:solidFill>
                <a:effectLst/>
                <a:latin typeface="Nunito" pitchFamily="2" charset="0"/>
              </a:rPr>
              <a:t>Feature Engineering is the process of selecting, creating or modifying features like input variables or data to help machine learning models learn patterns more effectively.</a:t>
            </a:r>
          </a:p>
          <a:p>
            <a:endParaRPr lang="en-US" dirty="0">
              <a:solidFill>
                <a:srgbClr val="273239"/>
              </a:solidFill>
              <a:latin typeface="Nunito" pitchFamily="2" charset="0"/>
            </a:endParaRPr>
          </a:p>
          <a:p>
            <a:r>
              <a:rPr lang="en-US" b="0" i="0" dirty="0">
                <a:solidFill>
                  <a:srgbClr val="273239"/>
                </a:solidFill>
                <a:effectLst/>
                <a:latin typeface="Nunito" pitchFamily="2" charset="0"/>
              </a:rPr>
              <a:t> It involves transforming raw data into meaningful inputs that improve model accuracy and performance.</a:t>
            </a:r>
            <a:endParaRPr lang="en-US" dirty="0"/>
          </a:p>
        </p:txBody>
      </p:sp>
      <p:pic>
        <p:nvPicPr>
          <p:cNvPr id="5" name="Picture 4">
            <a:extLst>
              <a:ext uri="{FF2B5EF4-FFF2-40B4-BE49-F238E27FC236}">
                <a16:creationId xmlns:a16="http://schemas.microsoft.com/office/drawing/2014/main" id="{1B069854-5406-8DFF-DDEC-D3460E76F6F2}"/>
              </a:ext>
            </a:extLst>
          </p:cNvPr>
          <p:cNvPicPr>
            <a:picLocks noChangeAspect="1"/>
          </p:cNvPicPr>
          <p:nvPr/>
        </p:nvPicPr>
        <p:blipFill>
          <a:blip r:embed="rId2"/>
          <a:stretch>
            <a:fillRect/>
          </a:stretch>
        </p:blipFill>
        <p:spPr>
          <a:xfrm>
            <a:off x="842683" y="1999129"/>
            <a:ext cx="5934635" cy="3810000"/>
          </a:xfrm>
          <a:prstGeom prst="rect">
            <a:avLst/>
          </a:prstGeom>
        </p:spPr>
      </p:pic>
      <p:sp>
        <p:nvSpPr>
          <p:cNvPr id="7" name="TextBox 6">
            <a:extLst>
              <a:ext uri="{FF2B5EF4-FFF2-40B4-BE49-F238E27FC236}">
                <a16:creationId xmlns:a16="http://schemas.microsoft.com/office/drawing/2014/main" id="{EB0C4296-BF31-B364-DDF9-23B30476CF43}"/>
              </a:ext>
            </a:extLst>
          </p:cNvPr>
          <p:cNvSpPr txBox="1"/>
          <p:nvPr/>
        </p:nvSpPr>
        <p:spPr>
          <a:xfrm>
            <a:off x="6777318" y="1827876"/>
            <a:ext cx="5325035" cy="4608954"/>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Importance of Feature Engineering</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Improve accuracy</a:t>
            </a:r>
            <a:r>
              <a:rPr lang="en-US" b="0" i="0" dirty="0">
                <a:solidFill>
                  <a:srgbClr val="273239"/>
                </a:solidFill>
                <a:effectLst/>
                <a:latin typeface="Nunito" pitchFamily="2" charset="0"/>
              </a:rPr>
              <a:t>: Choosing the right features helps the model learn better, leading to more accurate predictions.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Reduce overfitting</a:t>
            </a:r>
            <a:r>
              <a:rPr lang="en-US" b="0" i="0" dirty="0">
                <a:solidFill>
                  <a:srgbClr val="273239"/>
                </a:solidFill>
                <a:effectLst/>
                <a:latin typeface="Nunito" pitchFamily="2" charset="0"/>
              </a:rPr>
              <a:t>: Using fewer, more important features helps the model avoid memorizing the data and perform better on new data.</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Boost interpretability</a:t>
            </a:r>
            <a:r>
              <a:rPr lang="en-US" b="0" i="0" dirty="0">
                <a:solidFill>
                  <a:srgbClr val="273239"/>
                </a:solidFill>
                <a:effectLst/>
                <a:latin typeface="Nunito" pitchFamily="2" charset="0"/>
              </a:rPr>
              <a:t>: Well-chosen features make it easier to understand how the model makes its predictions.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Enhance efficiency</a:t>
            </a:r>
            <a:r>
              <a:rPr lang="en-US" b="0" i="0" dirty="0">
                <a:solidFill>
                  <a:srgbClr val="273239"/>
                </a:solidFill>
                <a:effectLst/>
                <a:latin typeface="Nunito" pitchFamily="2" charset="0"/>
              </a:rPr>
              <a:t>: Focusing on key features speeds up the model’s training and prediction process, saving time and resources.</a:t>
            </a:r>
          </a:p>
        </p:txBody>
      </p:sp>
    </p:spTree>
    <p:extLst>
      <p:ext uri="{BB962C8B-B14F-4D97-AF65-F5344CB8AC3E}">
        <p14:creationId xmlns:p14="http://schemas.microsoft.com/office/powerpoint/2010/main" val="3580606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1EC18-A8CB-BF7D-BFF7-36A177D9EEF7}"/>
              </a:ext>
            </a:extLst>
          </p:cNvPr>
          <p:cNvPicPr>
            <a:picLocks noChangeAspect="1"/>
          </p:cNvPicPr>
          <p:nvPr/>
        </p:nvPicPr>
        <p:blipFill>
          <a:blip r:embed="rId2"/>
          <a:stretch>
            <a:fillRect/>
          </a:stretch>
        </p:blipFill>
        <p:spPr>
          <a:xfrm>
            <a:off x="219355" y="170328"/>
            <a:ext cx="5509093" cy="5844989"/>
          </a:xfrm>
          <a:prstGeom prst="rect">
            <a:avLst/>
          </a:prstGeom>
        </p:spPr>
      </p:pic>
      <p:sp>
        <p:nvSpPr>
          <p:cNvPr id="5" name="TextBox 4">
            <a:extLst>
              <a:ext uri="{FF2B5EF4-FFF2-40B4-BE49-F238E27FC236}">
                <a16:creationId xmlns:a16="http://schemas.microsoft.com/office/drawing/2014/main" id="{01909C84-DE88-73E3-C4E6-CEAD8787CC60}"/>
              </a:ext>
            </a:extLst>
          </p:cNvPr>
          <p:cNvSpPr txBox="1"/>
          <p:nvPr/>
        </p:nvSpPr>
        <p:spPr>
          <a:xfrm>
            <a:off x="5728448" y="170329"/>
            <a:ext cx="6831105" cy="5606663"/>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1. Feature Creation</a:t>
            </a:r>
            <a:r>
              <a:rPr lang="en-US" b="0" i="0" dirty="0">
                <a:solidFill>
                  <a:srgbClr val="273239"/>
                </a:solidFill>
                <a:effectLst/>
                <a:latin typeface="Nunito" pitchFamily="2" charset="0"/>
              </a:rPr>
              <a:t>: Feature creation involves generating new features from domain knowledge or by observing patterns in the data. It can be: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Domain-specific</a:t>
            </a:r>
            <a:r>
              <a:rPr lang="en-US" b="0" i="0" dirty="0">
                <a:solidFill>
                  <a:srgbClr val="273239"/>
                </a:solidFill>
                <a:effectLst/>
                <a:latin typeface="Nunito" pitchFamily="2" charset="0"/>
              </a:rPr>
              <a:t>: Created based on industry knowledge like business rules.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Data-driven</a:t>
            </a:r>
            <a:r>
              <a:rPr lang="en-US" b="0" i="0" dirty="0">
                <a:solidFill>
                  <a:srgbClr val="273239"/>
                </a:solidFill>
                <a:effectLst/>
                <a:latin typeface="Nunito" pitchFamily="2" charset="0"/>
              </a:rPr>
              <a:t>: Derived by recognizing patterns in data.</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Synthetic</a:t>
            </a:r>
            <a:r>
              <a:rPr lang="en-US" b="0" i="0" dirty="0">
                <a:solidFill>
                  <a:srgbClr val="273239"/>
                </a:solidFill>
                <a:effectLst/>
                <a:latin typeface="Nunito" pitchFamily="2" charset="0"/>
              </a:rPr>
              <a:t>: Formed by combining existing features.</a:t>
            </a:r>
          </a:p>
          <a:p>
            <a:pPr algn="l" rtl="0" fontAlgn="base">
              <a:spcAft>
                <a:spcPts val="750"/>
              </a:spcAft>
              <a:buNone/>
            </a:pPr>
            <a:r>
              <a:rPr lang="en-US" b="1" i="0" dirty="0">
                <a:solidFill>
                  <a:srgbClr val="273239"/>
                </a:solidFill>
                <a:effectLst/>
                <a:latin typeface="Nunito" pitchFamily="2" charset="0"/>
              </a:rPr>
              <a:t>2. Feature Transformation</a:t>
            </a:r>
            <a:r>
              <a:rPr lang="en-US" b="0" i="0" dirty="0">
                <a:solidFill>
                  <a:srgbClr val="273239"/>
                </a:solidFill>
                <a:effectLst/>
                <a:latin typeface="Nunito" pitchFamily="2" charset="0"/>
              </a:rPr>
              <a:t>: Transformation adjusts features to improve model learning:</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Normalization &amp; Scaling</a:t>
            </a:r>
            <a:r>
              <a:rPr lang="en-US" b="0" i="0" dirty="0">
                <a:solidFill>
                  <a:srgbClr val="273239"/>
                </a:solidFill>
                <a:effectLst/>
                <a:latin typeface="Nunito" pitchFamily="2" charset="0"/>
              </a:rPr>
              <a:t>: Adjust the range of features for consistency.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Encoding</a:t>
            </a:r>
            <a:r>
              <a:rPr lang="en-US" b="0" i="0" dirty="0">
                <a:solidFill>
                  <a:srgbClr val="273239"/>
                </a:solidFill>
                <a:effectLst/>
                <a:latin typeface="Nunito" pitchFamily="2" charset="0"/>
              </a:rPr>
              <a:t>: Converts categorical data to numerical form </a:t>
            </a:r>
            <a:r>
              <a:rPr lang="en-US" b="0" i="0" dirty="0" err="1">
                <a:solidFill>
                  <a:srgbClr val="273239"/>
                </a:solidFill>
                <a:effectLst/>
                <a:latin typeface="Nunito" pitchFamily="2" charset="0"/>
              </a:rPr>
              <a:t>i.e</a:t>
            </a:r>
            <a:r>
              <a:rPr lang="en-US" b="0" i="0" dirty="0">
                <a:solidFill>
                  <a:srgbClr val="273239"/>
                </a:solidFill>
                <a:effectLst/>
                <a:latin typeface="Nunito" pitchFamily="2" charset="0"/>
              </a:rPr>
              <a:t> one-hot encoding.</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Mathematical transformations</a:t>
            </a:r>
            <a:r>
              <a:rPr lang="en-US" b="0" i="0" dirty="0">
                <a:solidFill>
                  <a:srgbClr val="273239"/>
                </a:solidFill>
                <a:effectLst/>
                <a:latin typeface="Nunito" pitchFamily="2" charset="0"/>
              </a:rPr>
              <a:t>: Like logarithmic transformations for skewed data.</a:t>
            </a:r>
          </a:p>
        </p:txBody>
      </p:sp>
    </p:spTree>
    <p:extLst>
      <p:ext uri="{BB962C8B-B14F-4D97-AF65-F5344CB8AC3E}">
        <p14:creationId xmlns:p14="http://schemas.microsoft.com/office/powerpoint/2010/main" val="3585282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6F4C-5436-2BBE-3A72-C999D0911B8D}"/>
              </a:ext>
            </a:extLst>
          </p:cNvPr>
          <p:cNvSpPr txBox="1"/>
          <p:nvPr/>
        </p:nvSpPr>
        <p:spPr>
          <a:xfrm>
            <a:off x="264459" y="196765"/>
            <a:ext cx="11663082" cy="6217087"/>
          </a:xfrm>
          <a:prstGeom prst="rect">
            <a:avLst/>
          </a:prstGeom>
          <a:noFill/>
        </p:spPr>
        <p:txBody>
          <a:bodyPr wrap="square">
            <a:spAutoFit/>
          </a:bodyPr>
          <a:lstStyle/>
          <a:p>
            <a:pPr algn="l" rtl="0" fontAlgn="base">
              <a:spcAft>
                <a:spcPts val="750"/>
              </a:spcAft>
              <a:buNone/>
            </a:pPr>
            <a:r>
              <a:rPr lang="en-US" sz="2400" b="1" i="0" dirty="0">
                <a:solidFill>
                  <a:srgbClr val="273239"/>
                </a:solidFill>
                <a:effectLst/>
                <a:latin typeface="Times New Roman" panose="02020603050405020304" pitchFamily="18" charset="0"/>
                <a:cs typeface="Times New Roman" panose="02020603050405020304" pitchFamily="18" charset="0"/>
              </a:rPr>
              <a:t>3. Feature Extraction</a:t>
            </a:r>
            <a:r>
              <a:rPr lang="en-US" sz="2400" b="0" i="0" dirty="0">
                <a:solidFill>
                  <a:srgbClr val="273239"/>
                </a:solidFill>
                <a:effectLst/>
                <a:latin typeface="Times New Roman" panose="02020603050405020304" pitchFamily="18" charset="0"/>
                <a:cs typeface="Times New Roman" panose="02020603050405020304" pitchFamily="18" charset="0"/>
              </a:rPr>
              <a:t>: Transform existing features into a lower-dimensional or more informative representation (e.g., PCA).</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Dimensionality reduction</a:t>
            </a:r>
            <a:r>
              <a:rPr lang="en-US" sz="2400" b="0" i="0" dirty="0">
                <a:solidFill>
                  <a:srgbClr val="273239"/>
                </a:solidFill>
                <a:effectLst/>
                <a:latin typeface="Times New Roman" panose="02020603050405020304" pitchFamily="18" charset="0"/>
                <a:cs typeface="Times New Roman" panose="02020603050405020304" pitchFamily="18" charset="0"/>
              </a:rPr>
              <a:t>: Techniques like PCA reduce features while preserving important information.</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Aggregation &amp; Combination</a:t>
            </a:r>
            <a:r>
              <a:rPr lang="en-US" sz="2400" b="0" i="0" dirty="0">
                <a:solidFill>
                  <a:srgbClr val="273239"/>
                </a:solidFill>
                <a:effectLst/>
                <a:latin typeface="Times New Roman" panose="02020603050405020304" pitchFamily="18" charset="0"/>
                <a:cs typeface="Times New Roman" panose="02020603050405020304" pitchFamily="18" charset="0"/>
              </a:rPr>
              <a:t>: Summing or averaging features to simplify the model.</a:t>
            </a:r>
          </a:p>
          <a:p>
            <a:pPr algn="l" rtl="0" fontAlgn="base">
              <a:spcAft>
                <a:spcPts val="750"/>
              </a:spcAft>
              <a:buNone/>
            </a:pPr>
            <a:r>
              <a:rPr lang="en-US" sz="2400" b="1" i="0" dirty="0">
                <a:solidFill>
                  <a:srgbClr val="273239"/>
                </a:solidFill>
                <a:effectLst/>
                <a:latin typeface="Times New Roman" panose="02020603050405020304" pitchFamily="18" charset="0"/>
                <a:cs typeface="Times New Roman" panose="02020603050405020304" pitchFamily="18" charset="0"/>
              </a:rPr>
              <a:t>4. Feature Selection</a:t>
            </a:r>
            <a:r>
              <a:rPr lang="en-US" sz="2400" b="0" i="0" dirty="0">
                <a:solidFill>
                  <a:srgbClr val="273239"/>
                </a:solidFill>
                <a:effectLst/>
                <a:latin typeface="Times New Roman" panose="02020603050405020304" pitchFamily="18" charset="0"/>
                <a:cs typeface="Times New Roman" panose="02020603050405020304" pitchFamily="18" charset="0"/>
              </a:rPr>
              <a:t>: Feature selection involves choosing a subset of relevant features to use:</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Filter methods</a:t>
            </a:r>
            <a:r>
              <a:rPr lang="en-US" sz="2400" b="0" i="0" dirty="0">
                <a:solidFill>
                  <a:srgbClr val="273239"/>
                </a:solidFill>
                <a:effectLst/>
                <a:latin typeface="Times New Roman" panose="02020603050405020304" pitchFamily="18" charset="0"/>
                <a:cs typeface="Times New Roman" panose="02020603050405020304" pitchFamily="18" charset="0"/>
              </a:rPr>
              <a:t>: Based on statistical measures like correlation.</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Wrapper methods</a:t>
            </a:r>
            <a:r>
              <a:rPr lang="en-US" sz="2400" b="0" i="0" dirty="0">
                <a:solidFill>
                  <a:srgbClr val="273239"/>
                </a:solidFill>
                <a:effectLst/>
                <a:latin typeface="Times New Roman" panose="02020603050405020304" pitchFamily="18" charset="0"/>
                <a:cs typeface="Times New Roman" panose="02020603050405020304" pitchFamily="18" charset="0"/>
              </a:rPr>
              <a:t>: Select based on model performance.</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Embedded methods</a:t>
            </a:r>
            <a:r>
              <a:rPr lang="en-US" sz="2400" b="0" i="0" dirty="0">
                <a:solidFill>
                  <a:srgbClr val="273239"/>
                </a:solidFill>
                <a:effectLst/>
                <a:latin typeface="Times New Roman" panose="02020603050405020304" pitchFamily="18" charset="0"/>
                <a:cs typeface="Times New Roman" panose="02020603050405020304" pitchFamily="18" charset="0"/>
              </a:rPr>
              <a:t>: Feature selection integrated within model training.</a:t>
            </a:r>
          </a:p>
          <a:p>
            <a:pPr algn="l" rtl="0" fontAlgn="base">
              <a:spcAft>
                <a:spcPts val="750"/>
              </a:spcAft>
              <a:buNone/>
            </a:pPr>
            <a:r>
              <a:rPr lang="en-US" sz="2400" b="1" i="0" dirty="0">
                <a:solidFill>
                  <a:srgbClr val="273239"/>
                </a:solidFill>
                <a:effectLst/>
                <a:latin typeface="Times New Roman" panose="02020603050405020304" pitchFamily="18" charset="0"/>
                <a:cs typeface="Times New Roman" panose="02020603050405020304" pitchFamily="18" charset="0"/>
              </a:rPr>
              <a:t>5. Feature Scaling</a:t>
            </a:r>
            <a:r>
              <a:rPr lang="en-US" sz="2400" b="0" i="0" dirty="0">
                <a:solidFill>
                  <a:srgbClr val="273239"/>
                </a:solidFill>
                <a:effectLst/>
                <a:latin typeface="Times New Roman" panose="02020603050405020304" pitchFamily="18" charset="0"/>
                <a:cs typeface="Times New Roman" panose="02020603050405020304" pitchFamily="18" charset="0"/>
              </a:rPr>
              <a:t>: Scaling ensures that all features contribute equally to the model:</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Min-Max scaling</a:t>
            </a:r>
            <a:r>
              <a:rPr lang="en-US" sz="2400" b="0" i="0" dirty="0">
                <a:solidFill>
                  <a:srgbClr val="273239"/>
                </a:solidFill>
                <a:effectLst/>
                <a:latin typeface="Times New Roman" panose="02020603050405020304" pitchFamily="18" charset="0"/>
                <a:cs typeface="Times New Roman" panose="02020603050405020304" pitchFamily="18" charset="0"/>
              </a:rPr>
              <a:t>: Rescales values to a fixed range like 0 to 1.</a:t>
            </a:r>
          </a:p>
          <a:p>
            <a:pPr algn="l" fontAlgn="base">
              <a:spcAft>
                <a:spcPts val="1800"/>
              </a:spcAft>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Standard scaling</a:t>
            </a:r>
            <a:r>
              <a:rPr lang="en-US" sz="2400" b="0" i="0" dirty="0">
                <a:solidFill>
                  <a:srgbClr val="273239"/>
                </a:solidFill>
                <a:effectLst/>
                <a:latin typeface="Times New Roman" panose="02020603050405020304" pitchFamily="18" charset="0"/>
                <a:cs typeface="Times New Roman" panose="02020603050405020304" pitchFamily="18" charset="0"/>
              </a:rPr>
              <a:t>: Standardizes features to have mean 0 and variance 1</a:t>
            </a:r>
          </a:p>
        </p:txBody>
      </p:sp>
    </p:spTree>
    <p:extLst>
      <p:ext uri="{BB962C8B-B14F-4D97-AF65-F5344CB8AC3E}">
        <p14:creationId xmlns:p14="http://schemas.microsoft.com/office/powerpoint/2010/main" val="4254365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F72CB2-DE2A-82D5-8602-1DA93BC2DF50}"/>
              </a:ext>
            </a:extLst>
          </p:cNvPr>
          <p:cNvSpPr txBox="1"/>
          <p:nvPr/>
        </p:nvSpPr>
        <p:spPr>
          <a:xfrm>
            <a:off x="242047" y="380730"/>
            <a:ext cx="10945906" cy="5819542"/>
          </a:xfrm>
          <a:prstGeom prst="rect">
            <a:avLst/>
          </a:prstGeom>
          <a:noFill/>
        </p:spPr>
        <p:txBody>
          <a:bodyPr wrap="square">
            <a:spAutoFit/>
          </a:bodyPr>
          <a:lstStyle/>
          <a:p>
            <a:pPr algn="l" fontAlgn="base">
              <a:lnSpc>
                <a:spcPts val="2100"/>
              </a:lnSpc>
              <a:buNone/>
            </a:pPr>
            <a:r>
              <a:rPr lang="en-US" sz="2400" b="1" i="0" dirty="0">
                <a:solidFill>
                  <a:srgbClr val="273239"/>
                </a:solidFill>
                <a:effectLst/>
                <a:latin typeface="Times New Roman" panose="02020603050405020304" pitchFamily="18" charset="0"/>
                <a:cs typeface="Times New Roman" panose="02020603050405020304" pitchFamily="18" charset="0"/>
              </a:rPr>
              <a:t>Steps in Feature Engineering</a:t>
            </a:r>
          </a:p>
          <a:p>
            <a:pPr algn="l" rtl="0" fontAlgn="base">
              <a:spcAft>
                <a:spcPts val="750"/>
              </a:spcAft>
              <a:buNone/>
            </a:pPr>
            <a:r>
              <a:rPr lang="en-US" sz="2400" b="0" i="0" dirty="0">
                <a:solidFill>
                  <a:srgbClr val="273239"/>
                </a:solidFill>
                <a:effectLst/>
                <a:latin typeface="Times New Roman" panose="02020603050405020304" pitchFamily="18" charset="0"/>
                <a:cs typeface="Times New Roman" panose="02020603050405020304" pitchFamily="18" charset="0"/>
              </a:rPr>
              <a:t>Feature engineering can vary depending on the specific problem but the general steps are:</a:t>
            </a:r>
          </a:p>
          <a:p>
            <a:pPr algn="l" fontAlgn="base">
              <a:spcAft>
                <a:spcPts val="1800"/>
              </a:spcAft>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Data Cleaning:</a:t>
            </a:r>
            <a:r>
              <a:rPr lang="en-US" sz="2400" b="0" i="0" dirty="0">
                <a:solidFill>
                  <a:srgbClr val="273239"/>
                </a:solidFill>
                <a:effectLst/>
                <a:latin typeface="Times New Roman" panose="02020603050405020304" pitchFamily="18" charset="0"/>
                <a:cs typeface="Times New Roman" panose="02020603050405020304" pitchFamily="18" charset="0"/>
              </a:rPr>
              <a:t> Identify and correct errors or inconsistencies in the dataset to ensure data quality and reliability.</a:t>
            </a:r>
          </a:p>
          <a:p>
            <a:pPr algn="l" fontAlgn="base">
              <a:spcAft>
                <a:spcPts val="1800"/>
              </a:spcAft>
              <a:buFont typeface="+mj-lt"/>
              <a:buAutoNum type="arabicPeriod" startAt="2"/>
            </a:pPr>
            <a:r>
              <a:rPr lang="en-US" sz="2400" b="1" i="0" dirty="0">
                <a:solidFill>
                  <a:srgbClr val="273239"/>
                </a:solidFill>
                <a:effectLst/>
                <a:latin typeface="Times New Roman" panose="02020603050405020304" pitchFamily="18" charset="0"/>
                <a:cs typeface="Times New Roman" panose="02020603050405020304" pitchFamily="18" charset="0"/>
              </a:rPr>
              <a:t>Data Transformation:</a:t>
            </a:r>
            <a:r>
              <a:rPr lang="en-US" sz="2400" b="0" i="0" dirty="0">
                <a:solidFill>
                  <a:srgbClr val="273239"/>
                </a:solidFill>
                <a:effectLst/>
                <a:latin typeface="Times New Roman" panose="02020603050405020304" pitchFamily="18" charset="0"/>
                <a:cs typeface="Times New Roman" panose="02020603050405020304" pitchFamily="18" charset="0"/>
              </a:rPr>
              <a:t> Transform raw data into a format suitable for modeling including scaling, normalization and encoding.</a:t>
            </a:r>
          </a:p>
          <a:p>
            <a:pPr algn="l" fontAlgn="base">
              <a:spcAft>
                <a:spcPts val="1800"/>
              </a:spcAft>
              <a:buFont typeface="+mj-lt"/>
              <a:buAutoNum type="arabicPeriod" startAt="3"/>
            </a:pPr>
            <a:r>
              <a:rPr lang="en-US" sz="2400" b="1" i="0" dirty="0">
                <a:solidFill>
                  <a:srgbClr val="273239"/>
                </a:solidFill>
                <a:effectLst/>
                <a:latin typeface="Times New Roman" panose="02020603050405020304" pitchFamily="18" charset="0"/>
                <a:cs typeface="Times New Roman" panose="02020603050405020304" pitchFamily="18" charset="0"/>
              </a:rPr>
              <a:t>Feature Extraction:</a:t>
            </a:r>
            <a:r>
              <a:rPr lang="en-US" sz="2400" b="0" i="0" dirty="0">
                <a:solidFill>
                  <a:srgbClr val="273239"/>
                </a:solidFill>
                <a:effectLst/>
                <a:latin typeface="Times New Roman" panose="02020603050405020304" pitchFamily="18" charset="0"/>
                <a:cs typeface="Times New Roman" panose="02020603050405020304" pitchFamily="18" charset="0"/>
              </a:rPr>
              <a:t> Create new features by combining or deriving information from existing ones to provide more meaningful input to the model.</a:t>
            </a:r>
          </a:p>
          <a:p>
            <a:pPr algn="l" fontAlgn="base">
              <a:spcAft>
                <a:spcPts val="1800"/>
              </a:spcAft>
              <a:buFont typeface="+mj-lt"/>
              <a:buAutoNum type="arabicPeriod" startAt="4"/>
            </a:pPr>
            <a:r>
              <a:rPr lang="en-US" sz="2400" b="1" i="0" dirty="0">
                <a:solidFill>
                  <a:srgbClr val="273239"/>
                </a:solidFill>
                <a:effectLst/>
                <a:latin typeface="Times New Roman" panose="02020603050405020304" pitchFamily="18" charset="0"/>
                <a:cs typeface="Times New Roman" panose="02020603050405020304" pitchFamily="18" charset="0"/>
              </a:rPr>
              <a:t>Feature Selection:</a:t>
            </a:r>
            <a:r>
              <a:rPr lang="en-US" sz="2400" b="0" i="0" dirty="0">
                <a:solidFill>
                  <a:srgbClr val="273239"/>
                </a:solidFill>
                <a:effectLst/>
                <a:latin typeface="Times New Roman" panose="02020603050405020304" pitchFamily="18" charset="0"/>
                <a:cs typeface="Times New Roman" panose="02020603050405020304" pitchFamily="18" charset="0"/>
              </a:rPr>
              <a:t> Choose the most relevant features for the model using techniques like correlation analysis, mutual information and stepwise regression.</a:t>
            </a:r>
          </a:p>
          <a:p>
            <a:pPr algn="l" fontAlgn="base">
              <a:spcAft>
                <a:spcPts val="1800"/>
              </a:spcAft>
              <a:buFont typeface="+mj-lt"/>
              <a:buAutoNum type="arabicPeriod" startAt="5"/>
            </a:pPr>
            <a:r>
              <a:rPr lang="en-US" sz="2400" b="1" i="0" dirty="0">
                <a:solidFill>
                  <a:srgbClr val="273239"/>
                </a:solidFill>
                <a:effectLst/>
                <a:latin typeface="Times New Roman" panose="02020603050405020304" pitchFamily="18" charset="0"/>
                <a:cs typeface="Times New Roman" panose="02020603050405020304" pitchFamily="18" charset="0"/>
              </a:rPr>
              <a:t>Feature Iteration:</a:t>
            </a:r>
            <a:r>
              <a:rPr lang="en-US" sz="2400" b="0" i="0" dirty="0">
                <a:solidFill>
                  <a:srgbClr val="273239"/>
                </a:solidFill>
                <a:effectLst/>
                <a:latin typeface="Times New Roman" panose="02020603050405020304" pitchFamily="18" charset="0"/>
                <a:cs typeface="Times New Roman" panose="02020603050405020304" pitchFamily="18" charset="0"/>
              </a:rPr>
              <a:t> Continuously refine features based on model performance by adding, removing or modifying features for improvement.</a:t>
            </a:r>
          </a:p>
        </p:txBody>
      </p:sp>
    </p:spTree>
    <p:extLst>
      <p:ext uri="{BB962C8B-B14F-4D97-AF65-F5344CB8AC3E}">
        <p14:creationId xmlns:p14="http://schemas.microsoft.com/office/powerpoint/2010/main" val="1093927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8D836C-1414-4BD8-288C-4EA22140BCF4}"/>
              </a:ext>
            </a:extLst>
          </p:cNvPr>
          <p:cNvSpPr txBox="1"/>
          <p:nvPr/>
        </p:nvSpPr>
        <p:spPr>
          <a:xfrm>
            <a:off x="663387" y="385319"/>
            <a:ext cx="10273553" cy="1841530"/>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Common Techniques in Feature Engineering</a:t>
            </a:r>
          </a:p>
          <a:p>
            <a:pPr algn="l" fontAlgn="base">
              <a:lnSpc>
                <a:spcPts val="2100"/>
              </a:lnSpc>
              <a:buNone/>
            </a:pPr>
            <a:endParaRPr lang="en-US" b="1" i="0" dirty="0">
              <a:solidFill>
                <a:srgbClr val="273239"/>
              </a:solidFill>
              <a:effectLst/>
              <a:latin typeface="Nunito" pitchFamily="2" charset="0"/>
            </a:endParaRPr>
          </a:p>
          <a:p>
            <a:pPr marL="342900" indent="-342900" algn="l" rtl="0" fontAlgn="base">
              <a:spcAft>
                <a:spcPts val="750"/>
              </a:spcAft>
              <a:buAutoNum type="arabicPeriod"/>
            </a:pPr>
            <a:r>
              <a:rPr lang="en-US" b="1" i="0" dirty="0">
                <a:solidFill>
                  <a:srgbClr val="273239"/>
                </a:solidFill>
                <a:effectLst/>
                <a:latin typeface="Nunito" pitchFamily="2" charset="0"/>
              </a:rPr>
              <a:t>One-Hot Encoding</a:t>
            </a:r>
            <a:r>
              <a:rPr lang="en-US" b="0" i="0" dirty="0">
                <a:solidFill>
                  <a:srgbClr val="273239"/>
                </a:solidFill>
                <a:effectLst/>
                <a:latin typeface="Nunito" pitchFamily="2" charset="0"/>
              </a:rPr>
              <a:t>:</a:t>
            </a:r>
            <a:r>
              <a:rPr lang="en-US" b="0" i="0" u="sng" dirty="0">
                <a:solidFill>
                  <a:srgbClr val="357960"/>
                </a:solidFill>
                <a:effectLst/>
                <a:latin typeface="Nunito" pitchFamily="2" charset="0"/>
                <a:hlinkClick r:id="rId2"/>
              </a:rPr>
              <a:t> One-Hot Encoding</a:t>
            </a:r>
            <a:r>
              <a:rPr lang="en-US" b="0" i="0" dirty="0">
                <a:solidFill>
                  <a:srgbClr val="273239"/>
                </a:solidFill>
                <a:effectLst/>
                <a:latin typeface="Nunito" pitchFamily="2" charset="0"/>
              </a:rPr>
              <a:t> converts categorical variables into binary indicators, allowing them to be used by machine learning models.</a:t>
            </a:r>
          </a:p>
          <a:p>
            <a:pPr marL="342900" indent="-342900" fontAlgn="base">
              <a:spcAft>
                <a:spcPts val="750"/>
              </a:spcAft>
              <a:buAutoNum type="arabicPeriod"/>
            </a:pPr>
            <a:r>
              <a:rPr lang="en-US" b="1" dirty="0"/>
              <a:t>Binning</a:t>
            </a:r>
            <a:r>
              <a:rPr lang="en-US" dirty="0"/>
              <a:t>: </a:t>
            </a:r>
            <a:r>
              <a:rPr lang="en-US" u="sng" dirty="0">
                <a:hlinkClick r:id="rId3"/>
              </a:rPr>
              <a:t>Binning </a:t>
            </a:r>
            <a:r>
              <a:rPr lang="en-US" dirty="0"/>
              <a:t>transforms continuous variables into discrete bins, making them categorical for easier analysis.</a:t>
            </a:r>
            <a:endParaRPr lang="en-US"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DB425B7A-75B6-2D00-C48F-4540BCF8C671}"/>
              </a:ext>
            </a:extLst>
          </p:cNvPr>
          <p:cNvPicPr>
            <a:picLocks noChangeAspect="1"/>
          </p:cNvPicPr>
          <p:nvPr/>
        </p:nvPicPr>
        <p:blipFill>
          <a:blip r:embed="rId4"/>
          <a:stretch>
            <a:fillRect/>
          </a:stretch>
        </p:blipFill>
        <p:spPr>
          <a:xfrm>
            <a:off x="663387" y="2149315"/>
            <a:ext cx="10865226" cy="4549534"/>
          </a:xfrm>
          <a:prstGeom prst="rect">
            <a:avLst/>
          </a:prstGeom>
        </p:spPr>
      </p:pic>
    </p:spTree>
    <p:extLst>
      <p:ext uri="{BB962C8B-B14F-4D97-AF65-F5344CB8AC3E}">
        <p14:creationId xmlns:p14="http://schemas.microsoft.com/office/powerpoint/2010/main" val="1910037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pipeline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TIE IT ALL TOGETHER</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The preprocessing pipeline</a:t>
            </a:r>
            <a:endParaRPr lang="en-US" sz="2700" dirty="0"/>
          </a:p>
        </p:txBody>
      </p:sp>
      <p:sp>
        <p:nvSpPr>
          <p:cNvPr id="6" name="Shape 3"/>
          <p:cNvSpPr/>
          <p:nvPr/>
        </p:nvSpPr>
        <p:spPr>
          <a:xfrm>
            <a:off x="566928" y="1783080"/>
            <a:ext cx="2057400" cy="1417320"/>
          </a:xfrm>
          <a:prstGeom prst="roundRect">
            <a:avLst>
              <a:gd name="adj" fmla="val 6452"/>
            </a:avLst>
          </a:prstGeom>
          <a:solidFill>
            <a:srgbClr val="F2F5F9"/>
          </a:solidFill>
          <a:ln/>
        </p:spPr>
      </p:sp>
      <p:sp>
        <p:nvSpPr>
          <p:cNvPr id="7" name="Shape 4"/>
          <p:cNvSpPr/>
          <p:nvPr/>
        </p:nvSpPr>
        <p:spPr>
          <a:xfrm>
            <a:off x="1303020" y="2002536"/>
            <a:ext cx="585216" cy="585216"/>
          </a:xfrm>
          <a:prstGeom prst="ellipse">
            <a:avLst/>
          </a:prstGeom>
          <a:solidFill>
            <a:srgbClr val="16263F"/>
          </a:solidFill>
          <a:ln/>
        </p:spPr>
      </p:sp>
      <p:pic>
        <p:nvPicPr>
          <p:cNvPr id="8" name="Image 1" descr="ic_broom_white.png"/>
          <p:cNvPicPr>
            <a:picLocks noChangeAspect="1"/>
          </p:cNvPicPr>
          <p:nvPr/>
        </p:nvPicPr>
        <p:blipFill>
          <a:blip r:embed="rId4"/>
          <a:stretch>
            <a:fillRect/>
          </a:stretch>
        </p:blipFill>
        <p:spPr>
          <a:xfrm>
            <a:off x="1440180" y="2139696"/>
            <a:ext cx="310896" cy="310896"/>
          </a:xfrm>
          <a:prstGeom prst="rect">
            <a:avLst/>
          </a:prstGeom>
        </p:spPr>
      </p:pic>
      <p:sp>
        <p:nvSpPr>
          <p:cNvPr id="9" name="Text 5"/>
          <p:cNvSpPr/>
          <p:nvPr/>
        </p:nvSpPr>
        <p:spPr>
          <a:xfrm>
            <a:off x="658368" y="2697480"/>
            <a:ext cx="1874520" cy="292608"/>
          </a:xfrm>
          <a:prstGeom prst="rect">
            <a:avLst/>
          </a:prstGeom>
          <a:noFill/>
          <a:ln/>
        </p:spPr>
        <p:txBody>
          <a:bodyPr wrap="square" lIns="0" tIns="0" rIns="0" bIns="0" rtlCol="0" anchor="ctr"/>
          <a:lstStyle/>
          <a:p>
            <a:pPr marL="0" indent="0" algn="ctr">
              <a:buNone/>
            </a:pPr>
            <a:r>
              <a:rPr lang="en-US" sz="1250" b="1" dirty="0">
                <a:solidFill>
                  <a:srgbClr val="16263F"/>
                </a:solidFill>
                <a:latin typeface="Calibri" pitchFamily="34" charset="0"/>
                <a:ea typeface="Calibri" pitchFamily="34" charset="-122"/>
                <a:cs typeface="Calibri" pitchFamily="34" charset="-120"/>
              </a:rPr>
              <a:t>CLEAN</a:t>
            </a:r>
            <a:endParaRPr lang="en-US" sz="1250" dirty="0"/>
          </a:p>
        </p:txBody>
      </p:sp>
      <p:sp>
        <p:nvSpPr>
          <p:cNvPr id="10" name="Text 6"/>
          <p:cNvSpPr/>
          <p:nvPr/>
        </p:nvSpPr>
        <p:spPr>
          <a:xfrm>
            <a:off x="640080" y="2971800"/>
            <a:ext cx="1911096" cy="274320"/>
          </a:xfrm>
          <a:prstGeom prst="rect">
            <a:avLst/>
          </a:prstGeom>
          <a:noFill/>
          <a:ln/>
        </p:spPr>
        <p:txBody>
          <a:bodyPr wrap="square" lIns="0" tIns="0" rIns="0" bIns="0" rtlCol="0" anchor="ctr"/>
          <a:lstStyle/>
          <a:p>
            <a:pPr marL="0" indent="0" algn="ctr">
              <a:buNone/>
            </a:pPr>
            <a:r>
              <a:rPr lang="en-US" sz="900" dirty="0">
                <a:solidFill>
                  <a:srgbClr val="5C6B7A"/>
                </a:solidFill>
                <a:latin typeface="Calibri" pitchFamily="34" charset="0"/>
                <a:ea typeface="Calibri" pitchFamily="34" charset="-122"/>
                <a:cs typeface="Calibri" pitchFamily="34" charset="-120"/>
              </a:rPr>
              <a:t>Part 1: fix data</a:t>
            </a:r>
            <a:endParaRPr lang="en-US" sz="900" dirty="0"/>
          </a:p>
        </p:txBody>
      </p:sp>
      <p:pic>
        <p:nvPicPr>
          <p:cNvPr id="11" name="Image 2" descr="ic_arrow_gold.png"/>
          <p:cNvPicPr>
            <a:picLocks noChangeAspect="1"/>
          </p:cNvPicPr>
          <p:nvPr/>
        </p:nvPicPr>
        <p:blipFill>
          <a:blip r:embed="rId5"/>
          <a:stretch>
            <a:fillRect/>
          </a:stretch>
        </p:blipFill>
        <p:spPr>
          <a:xfrm>
            <a:off x="2651760" y="2409444"/>
            <a:ext cx="146304" cy="146304"/>
          </a:xfrm>
          <a:prstGeom prst="rect">
            <a:avLst/>
          </a:prstGeom>
        </p:spPr>
      </p:pic>
      <p:sp>
        <p:nvSpPr>
          <p:cNvPr id="12" name="Shape 7"/>
          <p:cNvSpPr/>
          <p:nvPr/>
        </p:nvSpPr>
        <p:spPr>
          <a:xfrm>
            <a:off x="2834640" y="1783080"/>
            <a:ext cx="2057400" cy="1417320"/>
          </a:xfrm>
          <a:prstGeom prst="roundRect">
            <a:avLst>
              <a:gd name="adj" fmla="val 6452"/>
            </a:avLst>
          </a:prstGeom>
          <a:solidFill>
            <a:srgbClr val="F2F5F9"/>
          </a:solidFill>
          <a:ln/>
        </p:spPr>
      </p:sp>
      <p:sp>
        <p:nvSpPr>
          <p:cNvPr id="13" name="Shape 8"/>
          <p:cNvSpPr/>
          <p:nvPr/>
        </p:nvSpPr>
        <p:spPr>
          <a:xfrm>
            <a:off x="3570732" y="2002536"/>
            <a:ext cx="585216" cy="585216"/>
          </a:xfrm>
          <a:prstGeom prst="ellipse">
            <a:avLst/>
          </a:prstGeom>
          <a:solidFill>
            <a:srgbClr val="16263F"/>
          </a:solidFill>
          <a:ln/>
        </p:spPr>
      </p:sp>
      <p:pic>
        <p:nvPicPr>
          <p:cNvPr id="14" name="Image 3" descr="ic_tags_white.png"/>
          <p:cNvPicPr>
            <a:picLocks noChangeAspect="1"/>
          </p:cNvPicPr>
          <p:nvPr/>
        </p:nvPicPr>
        <p:blipFill>
          <a:blip r:embed="rId6"/>
          <a:stretch>
            <a:fillRect/>
          </a:stretch>
        </p:blipFill>
        <p:spPr>
          <a:xfrm>
            <a:off x="3707892" y="2139696"/>
            <a:ext cx="310896" cy="310896"/>
          </a:xfrm>
          <a:prstGeom prst="rect">
            <a:avLst/>
          </a:prstGeom>
        </p:spPr>
      </p:pic>
      <p:sp>
        <p:nvSpPr>
          <p:cNvPr id="15" name="Text 9"/>
          <p:cNvSpPr/>
          <p:nvPr/>
        </p:nvSpPr>
        <p:spPr>
          <a:xfrm>
            <a:off x="2926080" y="2697480"/>
            <a:ext cx="1874520" cy="292608"/>
          </a:xfrm>
          <a:prstGeom prst="rect">
            <a:avLst/>
          </a:prstGeom>
          <a:noFill/>
          <a:ln/>
        </p:spPr>
        <p:txBody>
          <a:bodyPr wrap="square" lIns="0" tIns="0" rIns="0" bIns="0" rtlCol="0" anchor="ctr"/>
          <a:lstStyle/>
          <a:p>
            <a:pPr marL="0" indent="0" algn="ctr">
              <a:buNone/>
            </a:pPr>
            <a:r>
              <a:rPr lang="en-US" sz="1250" b="1" dirty="0">
                <a:solidFill>
                  <a:srgbClr val="16263F"/>
                </a:solidFill>
                <a:latin typeface="Calibri" pitchFamily="34" charset="0"/>
                <a:ea typeface="Calibri" pitchFamily="34" charset="-122"/>
                <a:cs typeface="Calibri" pitchFamily="34" charset="-120"/>
              </a:rPr>
              <a:t>ENCODE</a:t>
            </a:r>
            <a:endParaRPr lang="en-US" sz="1250" dirty="0"/>
          </a:p>
        </p:txBody>
      </p:sp>
      <p:sp>
        <p:nvSpPr>
          <p:cNvPr id="16" name="Text 10"/>
          <p:cNvSpPr/>
          <p:nvPr/>
        </p:nvSpPr>
        <p:spPr>
          <a:xfrm>
            <a:off x="2907792" y="2971800"/>
            <a:ext cx="1911096" cy="274320"/>
          </a:xfrm>
          <a:prstGeom prst="rect">
            <a:avLst/>
          </a:prstGeom>
          <a:noFill/>
          <a:ln/>
        </p:spPr>
        <p:txBody>
          <a:bodyPr wrap="square" lIns="0" tIns="0" rIns="0" bIns="0" rtlCol="0" anchor="ctr"/>
          <a:lstStyle/>
          <a:p>
            <a:pPr marL="0" indent="0" algn="ctr">
              <a:buNone/>
            </a:pPr>
            <a:r>
              <a:rPr lang="en-US" sz="900" dirty="0">
                <a:solidFill>
                  <a:srgbClr val="5C6B7A"/>
                </a:solidFill>
                <a:latin typeface="Calibri" pitchFamily="34" charset="0"/>
                <a:ea typeface="Calibri" pitchFamily="34" charset="-122"/>
                <a:cs typeface="Calibri" pitchFamily="34" charset="-120"/>
              </a:rPr>
              <a:t>categories → numbers</a:t>
            </a:r>
            <a:endParaRPr lang="en-US" sz="900" dirty="0"/>
          </a:p>
        </p:txBody>
      </p:sp>
      <p:pic>
        <p:nvPicPr>
          <p:cNvPr id="17" name="Image 4" descr="ic_arrow_gold.png"/>
          <p:cNvPicPr>
            <a:picLocks noChangeAspect="1"/>
          </p:cNvPicPr>
          <p:nvPr/>
        </p:nvPicPr>
        <p:blipFill>
          <a:blip r:embed="rId5"/>
          <a:stretch>
            <a:fillRect/>
          </a:stretch>
        </p:blipFill>
        <p:spPr>
          <a:xfrm>
            <a:off x="4919472" y="2409444"/>
            <a:ext cx="146304" cy="146304"/>
          </a:xfrm>
          <a:prstGeom prst="rect">
            <a:avLst/>
          </a:prstGeom>
        </p:spPr>
      </p:pic>
      <p:sp>
        <p:nvSpPr>
          <p:cNvPr id="18" name="Shape 11"/>
          <p:cNvSpPr/>
          <p:nvPr/>
        </p:nvSpPr>
        <p:spPr>
          <a:xfrm>
            <a:off x="5102352" y="1783080"/>
            <a:ext cx="2057400" cy="1417320"/>
          </a:xfrm>
          <a:prstGeom prst="roundRect">
            <a:avLst>
              <a:gd name="adj" fmla="val 6452"/>
            </a:avLst>
          </a:prstGeom>
          <a:solidFill>
            <a:srgbClr val="F2F5F9"/>
          </a:solidFill>
          <a:ln/>
        </p:spPr>
      </p:sp>
      <p:sp>
        <p:nvSpPr>
          <p:cNvPr id="19" name="Shape 12"/>
          <p:cNvSpPr/>
          <p:nvPr/>
        </p:nvSpPr>
        <p:spPr>
          <a:xfrm>
            <a:off x="5838444" y="2002536"/>
            <a:ext cx="585216" cy="585216"/>
          </a:xfrm>
          <a:prstGeom prst="ellipse">
            <a:avLst/>
          </a:prstGeom>
          <a:solidFill>
            <a:srgbClr val="16263F"/>
          </a:solidFill>
          <a:ln/>
        </p:spPr>
      </p:sp>
      <p:pic>
        <p:nvPicPr>
          <p:cNvPr id="20" name="Image 5" descr="ic_scale_white.png"/>
          <p:cNvPicPr>
            <a:picLocks noChangeAspect="1"/>
          </p:cNvPicPr>
          <p:nvPr/>
        </p:nvPicPr>
        <p:blipFill>
          <a:blip r:embed="rId7"/>
          <a:stretch>
            <a:fillRect/>
          </a:stretch>
        </p:blipFill>
        <p:spPr>
          <a:xfrm>
            <a:off x="5975604" y="2139696"/>
            <a:ext cx="310896" cy="310896"/>
          </a:xfrm>
          <a:prstGeom prst="rect">
            <a:avLst/>
          </a:prstGeom>
        </p:spPr>
      </p:pic>
      <p:sp>
        <p:nvSpPr>
          <p:cNvPr id="21" name="Text 13"/>
          <p:cNvSpPr/>
          <p:nvPr/>
        </p:nvSpPr>
        <p:spPr>
          <a:xfrm>
            <a:off x="5193792" y="2697480"/>
            <a:ext cx="1874520" cy="292608"/>
          </a:xfrm>
          <a:prstGeom prst="rect">
            <a:avLst/>
          </a:prstGeom>
          <a:noFill/>
          <a:ln/>
        </p:spPr>
        <p:txBody>
          <a:bodyPr wrap="square" lIns="0" tIns="0" rIns="0" bIns="0" rtlCol="0" anchor="ctr"/>
          <a:lstStyle/>
          <a:p>
            <a:pPr marL="0" indent="0" algn="ctr">
              <a:buNone/>
            </a:pPr>
            <a:r>
              <a:rPr lang="en-US" sz="1250" b="1" dirty="0">
                <a:solidFill>
                  <a:srgbClr val="16263F"/>
                </a:solidFill>
                <a:latin typeface="Calibri" pitchFamily="34" charset="0"/>
                <a:ea typeface="Calibri" pitchFamily="34" charset="-122"/>
                <a:cs typeface="Calibri" pitchFamily="34" charset="-120"/>
              </a:rPr>
              <a:t>SCALE</a:t>
            </a:r>
            <a:endParaRPr lang="en-US" sz="1250" dirty="0"/>
          </a:p>
        </p:txBody>
      </p:sp>
      <p:sp>
        <p:nvSpPr>
          <p:cNvPr id="22" name="Text 14"/>
          <p:cNvSpPr/>
          <p:nvPr/>
        </p:nvSpPr>
        <p:spPr>
          <a:xfrm>
            <a:off x="5175504" y="2971800"/>
            <a:ext cx="1911096" cy="274320"/>
          </a:xfrm>
          <a:prstGeom prst="rect">
            <a:avLst/>
          </a:prstGeom>
          <a:noFill/>
          <a:ln/>
        </p:spPr>
        <p:txBody>
          <a:bodyPr wrap="square" lIns="0" tIns="0" rIns="0" bIns="0" rtlCol="0" anchor="ctr"/>
          <a:lstStyle/>
          <a:p>
            <a:pPr marL="0" indent="0" algn="ctr">
              <a:buNone/>
            </a:pPr>
            <a:r>
              <a:rPr lang="en-US" sz="900" dirty="0">
                <a:solidFill>
                  <a:srgbClr val="5C6B7A"/>
                </a:solidFill>
                <a:latin typeface="Calibri" pitchFamily="34" charset="0"/>
                <a:ea typeface="Calibri" pitchFamily="34" charset="-122"/>
                <a:cs typeface="Calibri" pitchFamily="34" charset="-120"/>
              </a:rPr>
              <a:t>common scale</a:t>
            </a:r>
            <a:endParaRPr lang="en-US" sz="900" dirty="0"/>
          </a:p>
        </p:txBody>
      </p:sp>
      <p:pic>
        <p:nvPicPr>
          <p:cNvPr id="23" name="Image 6" descr="ic_arrow_gold.png"/>
          <p:cNvPicPr>
            <a:picLocks noChangeAspect="1"/>
          </p:cNvPicPr>
          <p:nvPr/>
        </p:nvPicPr>
        <p:blipFill>
          <a:blip r:embed="rId5"/>
          <a:stretch>
            <a:fillRect/>
          </a:stretch>
        </p:blipFill>
        <p:spPr>
          <a:xfrm>
            <a:off x="7187184" y="2409444"/>
            <a:ext cx="146304" cy="146304"/>
          </a:xfrm>
          <a:prstGeom prst="rect">
            <a:avLst/>
          </a:prstGeom>
        </p:spPr>
      </p:pic>
      <p:sp>
        <p:nvSpPr>
          <p:cNvPr id="24" name="Shape 15"/>
          <p:cNvSpPr/>
          <p:nvPr/>
        </p:nvSpPr>
        <p:spPr>
          <a:xfrm>
            <a:off x="7370064" y="1783080"/>
            <a:ext cx="2057400" cy="1417320"/>
          </a:xfrm>
          <a:prstGeom prst="roundRect">
            <a:avLst>
              <a:gd name="adj" fmla="val 6452"/>
            </a:avLst>
          </a:prstGeom>
          <a:solidFill>
            <a:srgbClr val="F2F5F9"/>
          </a:solidFill>
          <a:ln/>
        </p:spPr>
      </p:sp>
      <p:sp>
        <p:nvSpPr>
          <p:cNvPr id="25" name="Shape 16"/>
          <p:cNvSpPr/>
          <p:nvPr/>
        </p:nvSpPr>
        <p:spPr>
          <a:xfrm>
            <a:off x="8106156" y="2002536"/>
            <a:ext cx="585216" cy="585216"/>
          </a:xfrm>
          <a:prstGeom prst="ellipse">
            <a:avLst/>
          </a:prstGeom>
          <a:solidFill>
            <a:srgbClr val="16263F"/>
          </a:solidFill>
          <a:ln/>
        </p:spPr>
      </p:sp>
      <p:pic>
        <p:nvPicPr>
          <p:cNvPr id="26" name="Image 7" descr="ic_magic_white.png"/>
          <p:cNvPicPr>
            <a:picLocks noChangeAspect="1"/>
          </p:cNvPicPr>
          <p:nvPr/>
        </p:nvPicPr>
        <p:blipFill>
          <a:blip r:embed="rId8"/>
          <a:stretch>
            <a:fillRect/>
          </a:stretch>
        </p:blipFill>
        <p:spPr>
          <a:xfrm>
            <a:off x="8243316" y="2139696"/>
            <a:ext cx="310896" cy="310896"/>
          </a:xfrm>
          <a:prstGeom prst="rect">
            <a:avLst/>
          </a:prstGeom>
        </p:spPr>
      </p:pic>
      <p:sp>
        <p:nvSpPr>
          <p:cNvPr id="27" name="Text 17"/>
          <p:cNvSpPr/>
          <p:nvPr/>
        </p:nvSpPr>
        <p:spPr>
          <a:xfrm>
            <a:off x="7461504" y="2697480"/>
            <a:ext cx="1874520" cy="292608"/>
          </a:xfrm>
          <a:prstGeom prst="rect">
            <a:avLst/>
          </a:prstGeom>
          <a:noFill/>
          <a:ln/>
        </p:spPr>
        <p:txBody>
          <a:bodyPr wrap="square" lIns="0" tIns="0" rIns="0" bIns="0" rtlCol="0" anchor="ctr"/>
          <a:lstStyle/>
          <a:p>
            <a:pPr marL="0" indent="0" algn="ctr">
              <a:buNone/>
            </a:pPr>
            <a:r>
              <a:rPr lang="en-US" sz="1250" b="1" dirty="0">
                <a:solidFill>
                  <a:srgbClr val="16263F"/>
                </a:solidFill>
                <a:latin typeface="Calibri" pitchFamily="34" charset="0"/>
                <a:ea typeface="Calibri" pitchFamily="34" charset="-122"/>
                <a:cs typeface="Calibri" pitchFamily="34" charset="-120"/>
              </a:rPr>
              <a:t>ENGINEER</a:t>
            </a:r>
            <a:endParaRPr lang="en-US" sz="1250" dirty="0"/>
          </a:p>
        </p:txBody>
      </p:sp>
      <p:sp>
        <p:nvSpPr>
          <p:cNvPr id="28" name="Text 18"/>
          <p:cNvSpPr/>
          <p:nvPr/>
        </p:nvSpPr>
        <p:spPr>
          <a:xfrm>
            <a:off x="7443216" y="2971800"/>
            <a:ext cx="1911096" cy="274320"/>
          </a:xfrm>
          <a:prstGeom prst="rect">
            <a:avLst/>
          </a:prstGeom>
          <a:noFill/>
          <a:ln/>
        </p:spPr>
        <p:txBody>
          <a:bodyPr wrap="square" lIns="0" tIns="0" rIns="0" bIns="0" rtlCol="0" anchor="ctr"/>
          <a:lstStyle/>
          <a:p>
            <a:pPr marL="0" indent="0" algn="ctr">
              <a:buNone/>
            </a:pPr>
            <a:r>
              <a:rPr lang="en-US" sz="900" dirty="0">
                <a:solidFill>
                  <a:srgbClr val="5C6B7A"/>
                </a:solidFill>
                <a:latin typeface="Calibri" pitchFamily="34" charset="0"/>
                <a:ea typeface="Calibri" pitchFamily="34" charset="-122"/>
                <a:cs typeface="Calibri" pitchFamily="34" charset="-120"/>
              </a:rPr>
              <a:t>new features</a:t>
            </a:r>
            <a:endParaRPr lang="en-US" sz="900" dirty="0"/>
          </a:p>
        </p:txBody>
      </p:sp>
      <p:pic>
        <p:nvPicPr>
          <p:cNvPr id="29" name="Image 8" descr="ic_arrow_gold.png"/>
          <p:cNvPicPr>
            <a:picLocks noChangeAspect="1"/>
          </p:cNvPicPr>
          <p:nvPr/>
        </p:nvPicPr>
        <p:blipFill>
          <a:blip r:embed="rId5"/>
          <a:stretch>
            <a:fillRect/>
          </a:stretch>
        </p:blipFill>
        <p:spPr>
          <a:xfrm>
            <a:off x="9454896" y="2409444"/>
            <a:ext cx="146304" cy="146304"/>
          </a:xfrm>
          <a:prstGeom prst="rect">
            <a:avLst/>
          </a:prstGeom>
        </p:spPr>
      </p:pic>
      <p:sp>
        <p:nvSpPr>
          <p:cNvPr id="30" name="Shape 19"/>
          <p:cNvSpPr/>
          <p:nvPr/>
        </p:nvSpPr>
        <p:spPr>
          <a:xfrm>
            <a:off x="9637776" y="1783080"/>
            <a:ext cx="2057400" cy="1417320"/>
          </a:xfrm>
          <a:prstGeom prst="roundRect">
            <a:avLst>
              <a:gd name="adj" fmla="val 6452"/>
            </a:avLst>
          </a:prstGeom>
          <a:solidFill>
            <a:srgbClr val="16263F"/>
          </a:solidFill>
          <a:ln/>
          <a:effectLst>
            <a:outerShdw blurRad="101600" dist="38100" dir="5400000" algn="bl" rotWithShape="0">
              <a:srgbClr val="000000">
                <a:alpha val="14000"/>
              </a:srgbClr>
            </a:outerShdw>
          </a:effectLst>
        </p:spPr>
      </p:sp>
      <p:sp>
        <p:nvSpPr>
          <p:cNvPr id="31" name="Shape 20"/>
          <p:cNvSpPr/>
          <p:nvPr/>
        </p:nvSpPr>
        <p:spPr>
          <a:xfrm>
            <a:off x="10373868" y="2002536"/>
            <a:ext cx="585216" cy="585216"/>
          </a:xfrm>
          <a:prstGeom prst="ellipse">
            <a:avLst/>
          </a:prstGeom>
          <a:solidFill>
            <a:srgbClr val="F4B942"/>
          </a:solidFill>
          <a:ln/>
        </p:spPr>
      </p:sp>
      <p:pic>
        <p:nvPicPr>
          <p:cNvPr id="32" name="Image 9" descr="ic_cogs_navy.png"/>
          <p:cNvPicPr>
            <a:picLocks noChangeAspect="1"/>
          </p:cNvPicPr>
          <p:nvPr/>
        </p:nvPicPr>
        <p:blipFill>
          <a:blip r:embed="rId9"/>
          <a:stretch>
            <a:fillRect/>
          </a:stretch>
        </p:blipFill>
        <p:spPr>
          <a:xfrm>
            <a:off x="10511028" y="2139696"/>
            <a:ext cx="310896" cy="310896"/>
          </a:xfrm>
          <a:prstGeom prst="rect">
            <a:avLst/>
          </a:prstGeom>
        </p:spPr>
      </p:pic>
      <p:sp>
        <p:nvSpPr>
          <p:cNvPr id="33" name="Text 21"/>
          <p:cNvSpPr/>
          <p:nvPr/>
        </p:nvSpPr>
        <p:spPr>
          <a:xfrm>
            <a:off x="9729216" y="2697480"/>
            <a:ext cx="1874520" cy="292608"/>
          </a:xfrm>
          <a:prstGeom prst="rect">
            <a:avLst/>
          </a:prstGeom>
          <a:noFill/>
          <a:ln/>
        </p:spPr>
        <p:txBody>
          <a:bodyPr wrap="square" lIns="0" tIns="0" rIns="0" bIns="0" rtlCol="0" anchor="ctr"/>
          <a:lstStyle/>
          <a:p>
            <a:pPr marL="0" indent="0" algn="ctr">
              <a:buNone/>
            </a:pPr>
            <a:r>
              <a:rPr lang="en-US" sz="1250" b="1" dirty="0">
                <a:solidFill>
                  <a:srgbClr val="F4B942"/>
                </a:solidFill>
                <a:latin typeface="Calibri" pitchFamily="34" charset="0"/>
                <a:ea typeface="Calibri" pitchFamily="34" charset="-122"/>
                <a:cs typeface="Calibri" pitchFamily="34" charset="-120"/>
              </a:rPr>
              <a:t>MODEL</a:t>
            </a:r>
            <a:endParaRPr lang="en-US" sz="1250" dirty="0"/>
          </a:p>
        </p:txBody>
      </p:sp>
      <p:sp>
        <p:nvSpPr>
          <p:cNvPr id="34" name="Text 22"/>
          <p:cNvSpPr/>
          <p:nvPr/>
        </p:nvSpPr>
        <p:spPr>
          <a:xfrm>
            <a:off x="9710928" y="2971800"/>
            <a:ext cx="1911096" cy="274320"/>
          </a:xfrm>
          <a:prstGeom prst="rect">
            <a:avLst/>
          </a:prstGeom>
          <a:noFill/>
          <a:ln/>
        </p:spPr>
        <p:txBody>
          <a:bodyPr wrap="square" lIns="0" tIns="0" rIns="0" bIns="0" rtlCol="0" anchor="ctr"/>
          <a:lstStyle/>
          <a:p>
            <a:pPr marL="0" indent="0" algn="ctr">
              <a:buNone/>
            </a:pPr>
            <a:r>
              <a:rPr lang="en-US" sz="900" dirty="0">
                <a:solidFill>
                  <a:srgbClr val="C7D6E6"/>
                </a:solidFill>
                <a:latin typeface="Calibri" pitchFamily="34" charset="0"/>
                <a:ea typeface="Calibri" pitchFamily="34" charset="-122"/>
                <a:cs typeface="Calibri" pitchFamily="34" charset="-120"/>
              </a:rPr>
              <a:t>ready to train</a:t>
            </a:r>
            <a:endParaRPr lang="en-US" sz="900" dirty="0"/>
          </a:p>
        </p:txBody>
      </p:sp>
      <p:sp>
        <p:nvSpPr>
          <p:cNvPr id="35" name="Shape 23"/>
          <p:cNvSpPr/>
          <p:nvPr/>
        </p:nvSpPr>
        <p:spPr>
          <a:xfrm>
            <a:off x="548640" y="3611880"/>
            <a:ext cx="11091672" cy="1234440"/>
          </a:xfrm>
          <a:prstGeom prst="roundRect">
            <a:avLst>
              <a:gd name="adj" fmla="val 4444"/>
            </a:avLst>
          </a:prstGeom>
          <a:solidFill>
            <a:srgbClr val="0E1B2E"/>
          </a:solidFill>
          <a:ln/>
          <a:effectLst>
            <a:outerShdw blurRad="101600" dist="38100" dir="5400000" algn="bl" rotWithShape="0">
              <a:srgbClr val="000000">
                <a:alpha val="14000"/>
              </a:srgbClr>
            </a:outerShdw>
          </a:effectLst>
        </p:spPr>
      </p:sp>
      <p:sp>
        <p:nvSpPr>
          <p:cNvPr id="36" name="Shape 24"/>
          <p:cNvSpPr/>
          <p:nvPr/>
        </p:nvSpPr>
        <p:spPr>
          <a:xfrm>
            <a:off x="694944" y="3758184"/>
            <a:ext cx="91440" cy="91440"/>
          </a:xfrm>
          <a:prstGeom prst="ellipse">
            <a:avLst/>
          </a:prstGeom>
          <a:solidFill>
            <a:srgbClr val="FF5F56"/>
          </a:solidFill>
          <a:ln/>
        </p:spPr>
      </p:sp>
      <p:sp>
        <p:nvSpPr>
          <p:cNvPr id="37" name="Shape 25"/>
          <p:cNvSpPr/>
          <p:nvPr/>
        </p:nvSpPr>
        <p:spPr>
          <a:xfrm>
            <a:off x="841248" y="3758184"/>
            <a:ext cx="91440" cy="91440"/>
          </a:xfrm>
          <a:prstGeom prst="ellipse">
            <a:avLst/>
          </a:prstGeom>
          <a:solidFill>
            <a:srgbClr val="FFBD2E"/>
          </a:solidFill>
          <a:ln/>
        </p:spPr>
      </p:sp>
      <p:sp>
        <p:nvSpPr>
          <p:cNvPr id="38" name="Shape 26"/>
          <p:cNvSpPr/>
          <p:nvPr/>
        </p:nvSpPr>
        <p:spPr>
          <a:xfrm>
            <a:off x="987552" y="3758184"/>
            <a:ext cx="91440" cy="91440"/>
          </a:xfrm>
          <a:prstGeom prst="ellipse">
            <a:avLst/>
          </a:prstGeom>
          <a:solidFill>
            <a:srgbClr val="27C93F"/>
          </a:solidFill>
          <a:ln/>
        </p:spPr>
      </p:sp>
      <p:sp>
        <p:nvSpPr>
          <p:cNvPr id="39" name="Text 27"/>
          <p:cNvSpPr/>
          <p:nvPr/>
        </p:nvSpPr>
        <p:spPr>
          <a:xfrm>
            <a:off x="1188720" y="3685032"/>
            <a:ext cx="10268712" cy="237744"/>
          </a:xfrm>
          <a:prstGeom prst="rect">
            <a:avLst/>
          </a:prstGeom>
          <a:noFill/>
          <a:ln/>
        </p:spPr>
        <p:txBody>
          <a:bodyPr wrap="square" lIns="0" tIns="0" rIns="0" bIns="0" rtlCol="0" anchor="ctr"/>
          <a:lstStyle/>
          <a:p>
            <a:pPr marL="0" indent="0" algn="l">
              <a:buNone/>
            </a:pPr>
            <a:r>
              <a:rPr lang="en-US" sz="950" dirty="0">
                <a:solidFill>
                  <a:srgbClr val="8FA6BE"/>
                </a:solidFill>
                <a:latin typeface="Courier New" pitchFamily="34" charset="0"/>
                <a:ea typeface="Courier New" pitchFamily="34" charset="-122"/>
                <a:cs typeface="Courier New" pitchFamily="34" charset="-120"/>
              </a:rPr>
              <a:t>pipeline.py</a:t>
            </a:r>
            <a:endParaRPr lang="en-US" sz="950" dirty="0"/>
          </a:p>
        </p:txBody>
      </p:sp>
      <p:sp>
        <p:nvSpPr>
          <p:cNvPr id="40" name="Text 28"/>
          <p:cNvSpPr/>
          <p:nvPr/>
        </p:nvSpPr>
        <p:spPr>
          <a:xfrm>
            <a:off x="749808" y="3995928"/>
            <a:ext cx="10689336" cy="704088"/>
          </a:xfrm>
          <a:prstGeom prst="rect">
            <a:avLst/>
          </a:prstGeom>
          <a:noFill/>
          <a:ln/>
        </p:spPr>
        <p:txBody>
          <a:bodyPr wrap="square" lIns="0" tIns="0" rIns="0" bIns="0" rtlCol="0" anchor="t"/>
          <a:lstStyle/>
          <a:p>
            <a:pPr marL="0" indent="0" algn="l">
              <a:lnSpc>
                <a:spcPct val="112000"/>
              </a:lnSpc>
              <a:buNone/>
            </a:pPr>
            <a:r>
              <a:rPr lang="en-US" sz="1150" dirty="0">
                <a:solidFill>
                  <a:srgbClr val="F4B942"/>
                </a:solidFill>
                <a:latin typeface="Courier New" pitchFamily="34" charset="0"/>
                <a:ea typeface="Courier New" pitchFamily="34" charset="-122"/>
                <a:cs typeface="Courier New" pitchFamily="34" charset="-120"/>
              </a:rPr>
              <a:t>from sklearn.pipeline import Pipeline</a:t>
            </a:r>
            <a:endParaRPr lang="en-US" sz="115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pipe = Pipeline([('scale', StandardScaler()), ('model', LogisticRegression())])</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pipe.fit(X_train, y_train)   # scaling + model in one leak-free step</a:t>
            </a:r>
            <a:endParaRPr lang="en-US" sz="1150" dirty="0"/>
          </a:p>
        </p:txBody>
      </p:sp>
      <p:sp>
        <p:nvSpPr>
          <p:cNvPr id="41" name="Shape 29"/>
          <p:cNvSpPr/>
          <p:nvPr/>
        </p:nvSpPr>
        <p:spPr>
          <a:xfrm>
            <a:off x="548640" y="5138928"/>
            <a:ext cx="11091672" cy="566928"/>
          </a:xfrm>
          <a:prstGeom prst="roundRect">
            <a:avLst>
              <a:gd name="adj" fmla="val 11290"/>
            </a:avLst>
          </a:prstGeom>
          <a:solidFill>
            <a:srgbClr val="FBF1D8"/>
          </a:solidFill>
          <a:ln/>
        </p:spPr>
      </p:sp>
      <p:sp>
        <p:nvSpPr>
          <p:cNvPr id="42" name="Shape 30"/>
          <p:cNvSpPr/>
          <p:nvPr/>
        </p:nvSpPr>
        <p:spPr>
          <a:xfrm>
            <a:off x="694944" y="5257800"/>
            <a:ext cx="329184" cy="329184"/>
          </a:xfrm>
          <a:prstGeom prst="ellipse">
            <a:avLst/>
          </a:prstGeom>
          <a:solidFill>
            <a:srgbClr val="F4B942"/>
          </a:solidFill>
          <a:ln/>
        </p:spPr>
      </p:sp>
      <p:pic>
        <p:nvPicPr>
          <p:cNvPr id="43" name="Image 10" descr="ic_flask_navy.png"/>
          <p:cNvPicPr>
            <a:picLocks noChangeAspect="1"/>
          </p:cNvPicPr>
          <p:nvPr/>
        </p:nvPicPr>
        <p:blipFill>
          <a:blip r:embed="rId10"/>
          <a:stretch>
            <a:fillRect/>
          </a:stretch>
        </p:blipFill>
        <p:spPr>
          <a:xfrm>
            <a:off x="777240" y="5340096"/>
            <a:ext cx="164592" cy="164592"/>
          </a:xfrm>
          <a:prstGeom prst="rect">
            <a:avLst/>
          </a:prstGeom>
        </p:spPr>
      </p:pic>
      <p:sp>
        <p:nvSpPr>
          <p:cNvPr id="44" name="Text 31"/>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Wrap a scaler + a model in a scikit-learn Pipeline and fit it on the training set.</a:t>
            </a:r>
            <a:endParaRPr lang="en-US" sz="1100" dirty="0"/>
          </a:p>
        </p:txBody>
      </p:sp>
      <p:sp>
        <p:nvSpPr>
          <p:cNvPr id="45" name="Text 32"/>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46" name="Text 33"/>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bulb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WRAP-UP</a:t>
            </a:r>
            <a:endParaRPr lang="en-US" sz="1250" dirty="0"/>
          </a:p>
        </p:txBody>
      </p:sp>
      <p:sp>
        <p:nvSpPr>
          <p:cNvPr id="5" name="Text 2"/>
          <p:cNvSpPr/>
          <p:nvPr/>
        </p:nvSpPr>
        <p:spPr>
          <a:xfrm>
            <a:off x="1417320" y="786384"/>
            <a:ext cx="1051560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Recap, homework &amp; what comes next</a:t>
            </a:r>
            <a:endParaRPr lang="en-US" sz="2700" dirty="0"/>
          </a:p>
        </p:txBody>
      </p:sp>
      <p:sp>
        <p:nvSpPr>
          <p:cNvPr id="6" name="Shape 3"/>
          <p:cNvSpPr/>
          <p:nvPr/>
        </p:nvSpPr>
        <p:spPr>
          <a:xfrm>
            <a:off x="548640" y="1645920"/>
            <a:ext cx="3657600" cy="3383280"/>
          </a:xfrm>
          <a:prstGeom prst="roundRect">
            <a:avLst>
              <a:gd name="adj" fmla="val 2162"/>
            </a:avLst>
          </a:prstGeom>
          <a:solidFill>
            <a:srgbClr val="F2F5F9"/>
          </a:solidFill>
          <a:ln/>
        </p:spPr>
      </p:sp>
      <p:sp>
        <p:nvSpPr>
          <p:cNvPr id="7" name="Text 4"/>
          <p:cNvSpPr/>
          <p:nvPr/>
        </p:nvSpPr>
        <p:spPr>
          <a:xfrm>
            <a:off x="749808" y="1810512"/>
            <a:ext cx="3291840" cy="310896"/>
          </a:xfrm>
          <a:prstGeom prst="rect">
            <a:avLst/>
          </a:prstGeom>
          <a:noFill/>
          <a:ln/>
        </p:spPr>
        <p:txBody>
          <a:bodyPr wrap="square" lIns="0" tIns="0" rIns="0" bIns="0" rtlCol="0" anchor="ctr"/>
          <a:lstStyle/>
          <a:p>
            <a:pPr marL="0" indent="0" algn="l">
              <a:buNone/>
            </a:pPr>
            <a:r>
              <a:rPr lang="en-US" sz="1250" b="1" kern="0" spc="150" dirty="0">
                <a:solidFill>
                  <a:srgbClr val="2D6A9F"/>
                </a:solidFill>
                <a:latin typeface="Calibri" pitchFamily="34" charset="0"/>
                <a:ea typeface="Calibri" pitchFamily="34" charset="-122"/>
                <a:cs typeface="Calibri" pitchFamily="34" charset="-120"/>
              </a:rPr>
              <a:t>KEY TAKEAWAYS</a:t>
            </a:r>
            <a:endParaRPr lang="en-US" sz="1250" dirty="0"/>
          </a:p>
        </p:txBody>
      </p:sp>
      <p:sp>
        <p:nvSpPr>
          <p:cNvPr id="8" name="Text 5"/>
          <p:cNvSpPr/>
          <p:nvPr/>
        </p:nvSpPr>
        <p:spPr>
          <a:xfrm>
            <a:off x="749808" y="2212848"/>
            <a:ext cx="3291840" cy="2743200"/>
          </a:xfrm>
          <a:prstGeom prst="rect">
            <a:avLst/>
          </a:prstGeom>
          <a:noFill/>
          <a:ln/>
        </p:spPr>
        <p:txBody>
          <a:bodyPr wrap="square" lIns="0" tIns="0" rIns="0" bIns="0" rtlCol="0" anchor="t"/>
          <a:lstStyle/>
          <a:p>
            <a:pPr marL="342900" indent="-342900" algn="l">
              <a:lnSpc>
                <a:spcPct val="102000"/>
              </a:lnSpc>
              <a:spcAft>
                <a:spcPts val="900"/>
              </a:spcAft>
              <a:buSzPct val="100000"/>
              <a:buChar char="•"/>
            </a:pPr>
            <a:r>
              <a:rPr lang="en-US" sz="1200" dirty="0">
                <a:solidFill>
                  <a:srgbClr val="1B2733"/>
                </a:solidFill>
                <a:latin typeface="Calibri" pitchFamily="34" charset="0"/>
                <a:ea typeface="Calibri" pitchFamily="34" charset="-122"/>
                <a:cs typeface="Calibri" pitchFamily="34" charset="-120"/>
              </a:rPr>
              <a:t>Models need numbers on comparable scales</a:t>
            </a:r>
            <a:endParaRPr lang="en-US" sz="1200" dirty="0"/>
          </a:p>
          <a:p>
            <a:pPr marL="342900" indent="-342900" algn="l">
              <a:lnSpc>
                <a:spcPct val="102000"/>
              </a:lnSpc>
              <a:spcAft>
                <a:spcPts val="900"/>
              </a:spcAft>
              <a:buSzPct val="100000"/>
              <a:buChar char="•"/>
            </a:pPr>
            <a:r>
              <a:rPr lang="en-US" sz="1200" dirty="0">
                <a:solidFill>
                  <a:srgbClr val="1B2733"/>
                </a:solidFill>
                <a:latin typeface="Calibri" pitchFamily="34" charset="0"/>
                <a:ea typeface="Calibri" pitchFamily="34" charset="-122"/>
                <a:cs typeface="Calibri" pitchFamily="34" charset="-120"/>
              </a:rPr>
              <a:t>One-hot unordered; label-encode ordered</a:t>
            </a:r>
            <a:endParaRPr lang="en-US" sz="1200" dirty="0"/>
          </a:p>
          <a:p>
            <a:pPr marL="342900" indent="-342900" algn="l">
              <a:lnSpc>
                <a:spcPct val="102000"/>
              </a:lnSpc>
              <a:spcAft>
                <a:spcPts val="900"/>
              </a:spcAft>
              <a:buSzPct val="100000"/>
              <a:buChar char="•"/>
            </a:pPr>
            <a:r>
              <a:rPr lang="en-US" sz="1200" dirty="0">
                <a:solidFill>
                  <a:srgbClr val="1B2733"/>
                </a:solidFill>
                <a:latin typeface="Calibri" pitchFamily="34" charset="0"/>
                <a:ea typeface="Calibri" pitchFamily="34" charset="-122"/>
                <a:cs typeface="Calibri" pitchFamily="34" charset="-120"/>
              </a:rPr>
              <a:t>Standardise or min-max scale features</a:t>
            </a:r>
            <a:endParaRPr lang="en-US" sz="1200" dirty="0"/>
          </a:p>
          <a:p>
            <a:pPr marL="342900" indent="-342900" algn="l">
              <a:lnSpc>
                <a:spcPct val="102000"/>
              </a:lnSpc>
              <a:spcAft>
                <a:spcPts val="900"/>
              </a:spcAft>
              <a:buSzPct val="100000"/>
              <a:buChar char="•"/>
            </a:pPr>
            <a:r>
              <a:rPr lang="en-US" sz="1200" dirty="0">
                <a:solidFill>
                  <a:srgbClr val="1B2733"/>
                </a:solidFill>
                <a:latin typeface="Calibri" pitchFamily="34" charset="0"/>
                <a:ea typeface="Calibri" pitchFamily="34" charset="-122"/>
                <a:cs typeface="Calibri" pitchFamily="34" charset="-120"/>
              </a:rPr>
              <a:t>Engineer features to expose the signal</a:t>
            </a:r>
            <a:endParaRPr lang="en-US" sz="1200" dirty="0"/>
          </a:p>
          <a:p>
            <a:pPr marL="342900" indent="-342900" algn="l">
              <a:lnSpc>
                <a:spcPct val="102000"/>
              </a:lnSpc>
              <a:spcAft>
                <a:spcPts val="900"/>
              </a:spcAft>
              <a:buSzPct val="100000"/>
              <a:buChar char="•"/>
            </a:pPr>
            <a:r>
              <a:rPr lang="en-US" sz="1200" dirty="0">
                <a:solidFill>
                  <a:srgbClr val="1B2733"/>
                </a:solidFill>
                <a:latin typeface="Calibri" pitchFamily="34" charset="0"/>
                <a:ea typeface="Calibri" pitchFamily="34" charset="-122"/>
                <a:cs typeface="Calibri" pitchFamily="34" charset="-120"/>
              </a:rPr>
              <a:t>Fit on train only — never leak test data</a:t>
            </a:r>
            <a:endParaRPr lang="en-US" sz="1200" dirty="0"/>
          </a:p>
        </p:txBody>
      </p:sp>
      <p:sp>
        <p:nvSpPr>
          <p:cNvPr id="9" name="Shape 6"/>
          <p:cNvSpPr/>
          <p:nvPr/>
        </p:nvSpPr>
        <p:spPr>
          <a:xfrm>
            <a:off x="4370832" y="1645920"/>
            <a:ext cx="3657600" cy="3383280"/>
          </a:xfrm>
          <a:prstGeom prst="roundRect">
            <a:avLst>
              <a:gd name="adj" fmla="val 2162"/>
            </a:avLst>
          </a:prstGeom>
          <a:solidFill>
            <a:srgbClr val="FBF1D8"/>
          </a:solidFill>
          <a:ln/>
        </p:spPr>
      </p:sp>
      <p:sp>
        <p:nvSpPr>
          <p:cNvPr id="10" name="Text 7"/>
          <p:cNvSpPr/>
          <p:nvPr/>
        </p:nvSpPr>
        <p:spPr>
          <a:xfrm>
            <a:off x="4572000" y="1810512"/>
            <a:ext cx="3291840" cy="310896"/>
          </a:xfrm>
          <a:prstGeom prst="rect">
            <a:avLst/>
          </a:prstGeom>
          <a:noFill/>
          <a:ln/>
        </p:spPr>
        <p:txBody>
          <a:bodyPr wrap="square" lIns="0" tIns="0" rIns="0" bIns="0" rtlCol="0" anchor="ctr"/>
          <a:lstStyle/>
          <a:p>
            <a:pPr marL="0" indent="0" algn="l">
              <a:buNone/>
            </a:pPr>
            <a:r>
              <a:rPr lang="en-US" sz="1250" b="1" kern="0" spc="120" dirty="0">
                <a:solidFill>
                  <a:srgbClr val="9A6B12"/>
                </a:solidFill>
                <a:latin typeface="Calibri" pitchFamily="34" charset="0"/>
                <a:ea typeface="Calibri" pitchFamily="34" charset="-122"/>
                <a:cs typeface="Calibri" pitchFamily="34" charset="-120"/>
              </a:rPr>
              <a:t>HOMEWORK / SELF-PACED</a:t>
            </a:r>
            <a:endParaRPr lang="en-US" sz="1250" dirty="0"/>
          </a:p>
        </p:txBody>
      </p:sp>
      <p:sp>
        <p:nvSpPr>
          <p:cNvPr id="11" name="Text 8"/>
          <p:cNvSpPr/>
          <p:nvPr/>
        </p:nvSpPr>
        <p:spPr>
          <a:xfrm>
            <a:off x="4572000" y="2212848"/>
            <a:ext cx="3291840" cy="2743200"/>
          </a:xfrm>
          <a:prstGeom prst="rect">
            <a:avLst/>
          </a:prstGeom>
          <a:noFill/>
          <a:ln/>
        </p:spPr>
        <p:txBody>
          <a:bodyPr wrap="square" lIns="0" tIns="0" rIns="0" bIns="0" rtlCol="0" anchor="t"/>
          <a:lstStyle/>
          <a:p>
            <a:pPr marL="342900" indent="-342900" algn="l">
              <a:lnSpc>
                <a:spcPct val="102000"/>
              </a:lnSpc>
              <a:spcAft>
                <a:spcPts val="900"/>
              </a:spcAft>
              <a:buSzPct val="100000"/>
              <a:buChar char="•"/>
            </a:pPr>
            <a:r>
              <a:rPr lang="en-US" sz="1200" dirty="0">
                <a:solidFill>
                  <a:srgbClr val="5A4A1E"/>
                </a:solidFill>
                <a:latin typeface="Calibri" pitchFamily="34" charset="0"/>
                <a:ea typeface="Calibri" pitchFamily="34" charset="-122"/>
                <a:cs typeface="Calibri" pitchFamily="34" charset="-120"/>
              </a:rPr>
              <a:t>One-hot encode an unordered column</a:t>
            </a:r>
            <a:endParaRPr lang="en-US" sz="1200" dirty="0"/>
          </a:p>
          <a:p>
            <a:pPr marL="342900" indent="-342900" algn="l">
              <a:lnSpc>
                <a:spcPct val="102000"/>
              </a:lnSpc>
              <a:spcAft>
                <a:spcPts val="900"/>
              </a:spcAft>
              <a:buSzPct val="100000"/>
              <a:buChar char="•"/>
            </a:pPr>
            <a:r>
              <a:rPr lang="en-US" sz="1200" dirty="0">
                <a:solidFill>
                  <a:srgbClr val="5A4A1E"/>
                </a:solidFill>
                <a:latin typeface="Calibri" pitchFamily="34" charset="0"/>
                <a:ea typeface="Calibri" pitchFamily="34" charset="-122"/>
                <a:cs typeface="Calibri" pitchFamily="34" charset="-120"/>
              </a:rPr>
              <a:t>Label-encode an ordered column</a:t>
            </a:r>
            <a:endParaRPr lang="en-US" sz="1200" dirty="0"/>
          </a:p>
          <a:p>
            <a:pPr marL="342900" indent="-342900" algn="l">
              <a:lnSpc>
                <a:spcPct val="102000"/>
              </a:lnSpc>
              <a:spcAft>
                <a:spcPts val="900"/>
              </a:spcAft>
              <a:buSzPct val="100000"/>
              <a:buChar char="•"/>
            </a:pPr>
            <a:r>
              <a:rPr lang="en-US" sz="1200" dirty="0">
                <a:solidFill>
                  <a:srgbClr val="5A4A1E"/>
                </a:solidFill>
                <a:latin typeface="Calibri" pitchFamily="34" charset="0"/>
                <a:ea typeface="Calibri" pitchFamily="34" charset="-122"/>
                <a:cs typeface="Calibri" pitchFamily="34" charset="-120"/>
              </a:rPr>
              <a:t>Standardise &amp; min-max scale a feature</a:t>
            </a:r>
            <a:endParaRPr lang="en-US" sz="1200" dirty="0"/>
          </a:p>
          <a:p>
            <a:pPr marL="342900" indent="-342900" algn="l">
              <a:lnSpc>
                <a:spcPct val="102000"/>
              </a:lnSpc>
              <a:spcAft>
                <a:spcPts val="900"/>
              </a:spcAft>
              <a:buSzPct val="100000"/>
              <a:buChar char="•"/>
            </a:pPr>
            <a:r>
              <a:rPr lang="en-US" sz="1200" dirty="0">
                <a:solidFill>
                  <a:srgbClr val="5A4A1E"/>
                </a:solidFill>
                <a:latin typeface="Calibri" pitchFamily="34" charset="0"/>
                <a:ea typeface="Calibri" pitchFamily="34" charset="-122"/>
                <a:cs typeface="Calibri" pitchFamily="34" charset="-120"/>
              </a:rPr>
              <a:t>Engineer 2 new features</a:t>
            </a:r>
            <a:endParaRPr lang="en-US" sz="1200" dirty="0"/>
          </a:p>
          <a:p>
            <a:pPr marL="342900" indent="-342900" algn="l">
              <a:lnSpc>
                <a:spcPct val="102000"/>
              </a:lnSpc>
              <a:spcAft>
                <a:spcPts val="900"/>
              </a:spcAft>
              <a:buSzPct val="100000"/>
              <a:buChar char="•"/>
            </a:pPr>
            <a:r>
              <a:rPr lang="en-US" sz="1200" dirty="0">
                <a:solidFill>
                  <a:srgbClr val="5A4A1E"/>
                </a:solidFill>
                <a:latin typeface="Calibri" pitchFamily="34" charset="0"/>
                <a:ea typeface="Calibri" pitchFamily="34" charset="-122"/>
                <a:cs typeface="Calibri" pitchFamily="34" charset="-120"/>
              </a:rPr>
              <a:t>Build a scaler + model Pipeline</a:t>
            </a:r>
            <a:endParaRPr lang="en-US" sz="1200" dirty="0"/>
          </a:p>
        </p:txBody>
      </p:sp>
      <p:sp>
        <p:nvSpPr>
          <p:cNvPr id="12" name="Shape 9"/>
          <p:cNvSpPr/>
          <p:nvPr/>
        </p:nvSpPr>
        <p:spPr>
          <a:xfrm>
            <a:off x="8193024" y="1645920"/>
            <a:ext cx="3447288" cy="3383280"/>
          </a:xfrm>
          <a:prstGeom prst="roundRect">
            <a:avLst>
              <a:gd name="adj" fmla="val 2162"/>
            </a:avLst>
          </a:prstGeom>
          <a:solidFill>
            <a:srgbClr val="16263F"/>
          </a:solidFill>
          <a:ln/>
          <a:effectLst>
            <a:outerShdw blurRad="101600" dist="38100" dir="5400000" algn="bl" rotWithShape="0">
              <a:srgbClr val="000000">
                <a:alpha val="14000"/>
              </a:srgbClr>
            </a:outerShdw>
          </a:effectLst>
        </p:spPr>
      </p:sp>
      <p:sp>
        <p:nvSpPr>
          <p:cNvPr id="13" name="Text 10"/>
          <p:cNvSpPr/>
          <p:nvPr/>
        </p:nvSpPr>
        <p:spPr>
          <a:xfrm>
            <a:off x="8394192" y="1810512"/>
            <a:ext cx="3108960" cy="310896"/>
          </a:xfrm>
          <a:prstGeom prst="rect">
            <a:avLst/>
          </a:prstGeom>
          <a:noFill/>
          <a:ln/>
        </p:spPr>
        <p:txBody>
          <a:bodyPr wrap="square" lIns="0" tIns="0" rIns="0" bIns="0" rtlCol="0" anchor="ctr"/>
          <a:lstStyle/>
          <a:p>
            <a:pPr marL="0" indent="0" algn="l">
              <a:buNone/>
            </a:pPr>
            <a:r>
              <a:rPr lang="en-US" sz="1250" b="1" kern="0" spc="100" dirty="0">
                <a:solidFill>
                  <a:srgbClr val="F4B942"/>
                </a:solidFill>
                <a:latin typeface="Calibri" pitchFamily="34" charset="0"/>
                <a:ea typeface="Calibri" pitchFamily="34" charset="-122"/>
                <a:cs typeface="Calibri" pitchFamily="34" charset="-120"/>
              </a:rPr>
              <a:t>UP NEXT — PHASE C</a:t>
            </a:r>
            <a:endParaRPr lang="en-US" sz="1250" dirty="0"/>
          </a:p>
        </p:txBody>
      </p:sp>
      <p:sp>
        <p:nvSpPr>
          <p:cNvPr id="14" name="Shape 11"/>
          <p:cNvSpPr/>
          <p:nvPr/>
        </p:nvSpPr>
        <p:spPr>
          <a:xfrm>
            <a:off x="8394192" y="2331720"/>
            <a:ext cx="457200" cy="457200"/>
          </a:xfrm>
          <a:prstGeom prst="ellipse">
            <a:avLst/>
          </a:prstGeom>
          <a:solidFill>
            <a:srgbClr val="F4B942"/>
          </a:solidFill>
          <a:ln/>
        </p:spPr>
      </p:sp>
      <p:sp>
        <p:nvSpPr>
          <p:cNvPr id="15" name="Text 12"/>
          <p:cNvSpPr/>
          <p:nvPr/>
        </p:nvSpPr>
        <p:spPr>
          <a:xfrm>
            <a:off x="8394192" y="2331720"/>
            <a:ext cx="457200" cy="457200"/>
          </a:xfrm>
          <a:prstGeom prst="rect">
            <a:avLst/>
          </a:prstGeom>
          <a:noFill/>
          <a:ln/>
        </p:spPr>
        <p:txBody>
          <a:bodyPr wrap="square" lIns="0" tIns="0" rIns="0" bIns="0" rtlCol="0" anchor="ctr"/>
          <a:lstStyle/>
          <a:p>
            <a:pPr marL="0" indent="0" algn="ctr">
              <a:buNone/>
            </a:pPr>
            <a:r>
              <a:rPr lang="en-US" sz="1200" b="1" dirty="0">
                <a:solidFill>
                  <a:srgbClr val="16263F"/>
                </a:solidFill>
                <a:latin typeface="Calibri" pitchFamily="34" charset="0"/>
                <a:ea typeface="Calibri" pitchFamily="34" charset="-122"/>
                <a:cs typeface="Calibri" pitchFamily="34" charset="-120"/>
              </a:rPr>
              <a:t>U9</a:t>
            </a:r>
            <a:endParaRPr lang="en-US" sz="1200" dirty="0"/>
          </a:p>
        </p:txBody>
      </p:sp>
      <p:sp>
        <p:nvSpPr>
          <p:cNvPr id="16" name="Text 13"/>
          <p:cNvSpPr/>
          <p:nvPr/>
        </p:nvSpPr>
        <p:spPr>
          <a:xfrm>
            <a:off x="8979408" y="2286000"/>
            <a:ext cx="2560320" cy="868680"/>
          </a:xfrm>
          <a:prstGeom prst="rect">
            <a:avLst/>
          </a:prstGeom>
          <a:noFill/>
          <a:ln/>
        </p:spPr>
        <p:txBody>
          <a:bodyPr wrap="square" lIns="0" tIns="0" rIns="0" bIns="0" rtlCol="0" anchor="ctr"/>
          <a:lstStyle/>
          <a:p>
            <a:pPr marL="0" indent="0" algn="l">
              <a:lnSpc>
                <a:spcPct val="102000"/>
              </a:lnSpc>
              <a:buNone/>
            </a:pPr>
            <a:r>
              <a:rPr lang="en-US" sz="1150" dirty="0">
                <a:solidFill>
                  <a:srgbClr val="DCE7F2"/>
                </a:solidFill>
                <a:latin typeface="Calibri" pitchFamily="34" charset="0"/>
                <a:ea typeface="Calibri" pitchFamily="34" charset="-122"/>
                <a:cs typeface="Calibri" pitchFamily="34" charset="-120"/>
              </a:rPr>
              <a:t>Exploratory Data Analysis — see patterns before modelling</a:t>
            </a:r>
            <a:endParaRPr lang="en-US" sz="1150" dirty="0"/>
          </a:p>
        </p:txBody>
      </p:sp>
      <p:sp>
        <p:nvSpPr>
          <p:cNvPr id="17" name="Shape 14"/>
          <p:cNvSpPr/>
          <p:nvPr/>
        </p:nvSpPr>
        <p:spPr>
          <a:xfrm>
            <a:off x="8394192" y="3383280"/>
            <a:ext cx="457200" cy="457200"/>
          </a:xfrm>
          <a:prstGeom prst="ellipse">
            <a:avLst/>
          </a:prstGeom>
          <a:solidFill>
            <a:srgbClr val="F4B942"/>
          </a:solidFill>
          <a:ln/>
        </p:spPr>
      </p:sp>
      <p:sp>
        <p:nvSpPr>
          <p:cNvPr id="18" name="Text 15"/>
          <p:cNvSpPr/>
          <p:nvPr/>
        </p:nvSpPr>
        <p:spPr>
          <a:xfrm>
            <a:off x="8394192" y="3383280"/>
            <a:ext cx="457200" cy="457200"/>
          </a:xfrm>
          <a:prstGeom prst="rect">
            <a:avLst/>
          </a:prstGeom>
          <a:noFill/>
          <a:ln/>
        </p:spPr>
        <p:txBody>
          <a:bodyPr wrap="square" lIns="0" tIns="0" rIns="0" bIns="0" rtlCol="0" anchor="ctr"/>
          <a:lstStyle/>
          <a:p>
            <a:pPr marL="0" indent="0" algn="ctr">
              <a:buNone/>
            </a:pPr>
            <a:r>
              <a:rPr lang="en-US" sz="1200" b="1" dirty="0">
                <a:solidFill>
                  <a:srgbClr val="16263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8979408" y="3337560"/>
            <a:ext cx="2560320" cy="868680"/>
          </a:xfrm>
          <a:prstGeom prst="rect">
            <a:avLst/>
          </a:prstGeom>
          <a:noFill/>
          <a:ln/>
        </p:spPr>
        <p:txBody>
          <a:bodyPr wrap="square" lIns="0" tIns="0" rIns="0" bIns="0" rtlCol="0" anchor="ctr"/>
          <a:lstStyle/>
          <a:p>
            <a:pPr marL="0" indent="0" algn="l">
              <a:lnSpc>
                <a:spcPct val="102000"/>
              </a:lnSpc>
              <a:buNone/>
            </a:pPr>
            <a:r>
              <a:rPr lang="en-US" sz="1150" dirty="0">
                <a:solidFill>
                  <a:srgbClr val="DCE7F2"/>
                </a:solidFill>
                <a:latin typeface="Calibri" pitchFamily="34" charset="0"/>
                <a:ea typeface="Calibri" pitchFamily="34" charset="-122"/>
                <a:cs typeface="Calibri" pitchFamily="34" charset="-120"/>
              </a:rPr>
              <a:t>U8 complete: data is clean &amp; model-ready</a:t>
            </a:r>
            <a:endParaRPr lang="en-US" sz="1150" dirty="0"/>
          </a:p>
        </p:txBody>
      </p:sp>
      <p:sp>
        <p:nvSpPr>
          <p:cNvPr id="20" name="Shape 17"/>
          <p:cNvSpPr/>
          <p:nvPr/>
        </p:nvSpPr>
        <p:spPr>
          <a:xfrm>
            <a:off x="548640" y="5285232"/>
            <a:ext cx="11091672" cy="868680"/>
          </a:xfrm>
          <a:prstGeom prst="roundRect">
            <a:avLst>
              <a:gd name="adj" fmla="val 9474"/>
            </a:avLst>
          </a:prstGeom>
          <a:solidFill>
            <a:srgbClr val="F2F5F9"/>
          </a:solidFill>
          <a:ln/>
        </p:spPr>
      </p:sp>
      <p:sp>
        <p:nvSpPr>
          <p:cNvPr id="21" name="Shape 18"/>
          <p:cNvSpPr/>
          <p:nvPr/>
        </p:nvSpPr>
        <p:spPr>
          <a:xfrm>
            <a:off x="777240" y="5458968"/>
            <a:ext cx="512064" cy="512064"/>
          </a:xfrm>
          <a:prstGeom prst="ellipse">
            <a:avLst/>
          </a:prstGeom>
          <a:solidFill>
            <a:srgbClr val="16263F"/>
          </a:solidFill>
          <a:ln/>
        </p:spPr>
      </p:sp>
      <p:pic>
        <p:nvPicPr>
          <p:cNvPr id="22" name="Image 1" descr="ic_sliders_white.png"/>
          <p:cNvPicPr>
            <a:picLocks noChangeAspect="1"/>
          </p:cNvPicPr>
          <p:nvPr/>
        </p:nvPicPr>
        <p:blipFill>
          <a:blip r:embed="rId4"/>
          <a:stretch>
            <a:fillRect/>
          </a:stretch>
        </p:blipFill>
        <p:spPr>
          <a:xfrm>
            <a:off x="886968" y="5568696"/>
            <a:ext cx="292608" cy="292608"/>
          </a:xfrm>
          <a:prstGeom prst="rect">
            <a:avLst/>
          </a:prstGeom>
        </p:spPr>
      </p:pic>
      <p:sp>
        <p:nvSpPr>
          <p:cNvPr id="23" name="Text 19"/>
          <p:cNvSpPr/>
          <p:nvPr/>
        </p:nvSpPr>
        <p:spPr>
          <a:xfrm>
            <a:off x="1463040" y="5285232"/>
            <a:ext cx="10058400" cy="86868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The full picture:  </a:t>
            </a:r>
            <a:r>
              <a:rPr lang="en-US" sz="1400" dirty="0">
                <a:solidFill>
                  <a:srgbClr val="1B2733"/>
                </a:solidFill>
                <a:latin typeface="Calibri" pitchFamily="34" charset="0"/>
                <a:ea typeface="Calibri" pitchFamily="34" charset="-122"/>
                <a:cs typeface="Calibri" pitchFamily="34" charset="-120"/>
              </a:rPr>
              <a:t>clean (Part 1) → encode → scale → engineer (Part 2). Now the data is finally ready to model.</a:t>
            </a:r>
            <a:endParaRPr lang="en-US" sz="1400" dirty="0"/>
          </a:p>
        </p:txBody>
      </p:sp>
      <p:sp>
        <p:nvSpPr>
          <p:cNvPr id="24" name="Text 20"/>
          <p:cNvSpPr/>
          <p:nvPr/>
        </p:nvSpPr>
        <p:spPr>
          <a:xfrm>
            <a:off x="548640" y="6437376"/>
            <a:ext cx="77724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U8 · Data Cleaning (Part 2)</a:t>
            </a:r>
            <a:endParaRPr lang="en-US" sz="950" dirty="0"/>
          </a:p>
        </p:txBody>
      </p:sp>
      <p:sp>
        <p:nvSpPr>
          <p:cNvPr id="25" name="Text 21"/>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2199</Words>
  <Application>Microsoft Office PowerPoint</Application>
  <PresentationFormat>Widescreen</PresentationFormat>
  <Paragraphs>260</Paragraphs>
  <Slides>26</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Cambria</vt:lpstr>
      <vt:lpstr>Century Schoolbook</vt:lpstr>
      <vt:lpstr>Courier New</vt:lpstr>
      <vt:lpstr>Nunito</vt:lpstr>
      <vt:lpstr>Source Sans 3</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AI/ML Training</dc:creator>
  <cp:lastModifiedBy>suneetha</cp:lastModifiedBy>
  <cp:revision>35</cp:revision>
  <dcterms:created xsi:type="dcterms:W3CDTF">2026-06-10T16:18:10Z</dcterms:created>
  <dcterms:modified xsi:type="dcterms:W3CDTF">2026-09-24T05:19:52Z</dcterms:modified>
</cp:coreProperties>
</file>